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embeddedFontLs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Montserrat" pitchFamily="2" charset="0"/>
      <p:regular r:id="rId21"/>
      <p:bold r:id="rId22"/>
      <p:italic r:id="rId23"/>
      <p:boldItalic r:id="rId24"/>
    </p:embeddedFont>
    <p:embeddedFont>
      <p:font typeface="Roboto Mono" panose="00000009000000000000" pitchFamily="49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MainSection" id="{28D6EAC5-6546-474F-8E5F-E0719BB0DF71}">
          <p14:sldIdLst>
            <p14:sldId id="256"/>
            <p14:sldId id="257"/>
          </p14:sldIdLst>
        </p14:section>
        <p14:section name="ToCSection" id="{38A5C745-64BB-4141-B773-F61167B93F2E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ontentSection" id="{8F555418-30AC-4D14-925A-1DCEC197CD8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0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Кто из вас сегодня пользовался смартфоном?</a:t>
            </a: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План: определение ИИ, примеры в телефонах и доме, будущее, викторина.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ru.wikipedia.org/wiki/Искусственный_интеллект</a:t>
            </a: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35B720C-22E5-1C7F-BECC-3806E6EB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F361288-1930-A6A6-411A-C9B6ECA877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3802A46-7CF6-2739-90C3-B0DE2F628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9271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04157AF-C291-0A59-DE54-E0B9B5F6C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5D71182-38D0-E0DD-EC11-495442EED6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75D0459-A7D2-B9F3-F0D3-1806B3D43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2799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E5222036-83AC-9EB9-B5F2-4220435D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C31D629-EE75-330C-CC6A-F88AA8761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8C8C544-B412-11D6-0F71-FF4D11D9C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7018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E50F4CF-4352-882B-BAB7-4C6E8781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EFE9876-5796-B1D9-9937-C82C6C94F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E9BD8A0-8F32-70A8-5D3F-21075DED6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8841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9233D40-CE2B-EF66-663E-4C1973CE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30918E6-EC22-ABF1-2014-9E1D92E348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B5756030-A22B-DE68-AF27-E8DBEBB09B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2112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E19012BD-EE4A-0A0E-5E45-4CA8327C3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DB6CC59-2F04-E318-3D12-E77D41DBD2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166B493-0709-E445-A77B-D96D0D857A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5637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Слабый ИИ решает узкие задачи (Siri). Сильный ИИ мыслит как человек (пока фантастика).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britannica.com/technology/artificial-intelligence</a:t>
            </a:r>
            <a:endParaRPr dirty="0"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Устройства связаны через интернет. Климат-контроль экономит энергию. Камеры узнают людей.</a:t>
            </a:r>
            <a:endParaRPr dirty="0"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ИИ — полезный инструмент. Спасибо за внимание.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openai.com/blog</a:t>
            </a:r>
            <a:endParaRPr dirty="0"/>
          </a:p>
        </p:txBody>
      </p:sp>
      <p:sp>
        <p:nvSpPr>
          <p:cNvPr id="228" name="Google Shape;2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D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.xml"/><Relationship Id="rId18" Type="http://schemas.openxmlformats.org/officeDocument/2006/relationships/image" Target="../media/image7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17" Type="http://schemas.openxmlformats.org/officeDocument/2006/relationships/slide" Target="slide9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5" Type="http://schemas.openxmlformats.org/officeDocument/2006/relationships/slide" Target="slide2.xml"/><Relationship Id="rId10" Type="http://schemas.openxmlformats.org/officeDocument/2006/relationships/slide" Target="slide8.xml"/><Relationship Id="rId19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slide" Target="slide7.xml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slide" Target="slide2.xml"/><Relationship Id="rId7" Type="http://schemas.openxmlformats.org/officeDocument/2006/relationships/slide" Target="slide10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11" Type="http://schemas.openxmlformats.org/officeDocument/2006/relationships/slide" Target="slide14.xml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10" Type="http://schemas.openxmlformats.org/officeDocument/2006/relationships/slide" Target="slide13.xml"/><Relationship Id="rId19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slide" Target="slide12.xml"/><Relationship Id="rId1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slide" Target="slide2.xml"/><Relationship Id="rId7" Type="http://schemas.openxmlformats.org/officeDocument/2006/relationships/slide" Target="slide10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11" Type="http://schemas.openxmlformats.org/officeDocument/2006/relationships/slide" Target="slide14.xml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10" Type="http://schemas.openxmlformats.org/officeDocument/2006/relationships/slide" Target="slide13.xml"/><Relationship Id="rId19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slide" Target="slide12.xml"/><Relationship Id="rId1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slide" Target="slide2.xml"/><Relationship Id="rId7" Type="http://schemas.openxmlformats.org/officeDocument/2006/relationships/slide" Target="slide10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11" Type="http://schemas.openxmlformats.org/officeDocument/2006/relationships/slide" Target="slide14.xml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10" Type="http://schemas.openxmlformats.org/officeDocument/2006/relationships/slide" Target="slide13.xml"/><Relationship Id="rId19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slide" Target="slide12.xml"/><Relationship Id="rId1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slide" Target="slide2.xml"/><Relationship Id="rId7" Type="http://schemas.openxmlformats.org/officeDocument/2006/relationships/slide" Target="slide10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11" Type="http://schemas.openxmlformats.org/officeDocument/2006/relationships/slide" Target="slide14.xml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10" Type="http://schemas.openxmlformats.org/officeDocument/2006/relationships/slide" Target="slide13.xml"/><Relationship Id="rId19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slide" Target="slide12.xml"/><Relationship Id="rId1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slide" Target="slide2.xml"/><Relationship Id="rId7" Type="http://schemas.openxmlformats.org/officeDocument/2006/relationships/slide" Target="slide10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11" Type="http://schemas.openxmlformats.org/officeDocument/2006/relationships/slide" Target="slide14.xml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10" Type="http://schemas.openxmlformats.org/officeDocument/2006/relationships/slide" Target="slide13.xml"/><Relationship Id="rId19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slide" Target="slide12.xml"/><Relationship Id="rId1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slide" Target="slide2.xml"/><Relationship Id="rId7" Type="http://schemas.openxmlformats.org/officeDocument/2006/relationships/slide" Target="slide10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11" Type="http://schemas.openxmlformats.org/officeDocument/2006/relationships/slide" Target="slide14.xml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10" Type="http://schemas.openxmlformats.org/officeDocument/2006/relationships/slide" Target="slide13.xml"/><Relationship Id="rId19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slide" Target="slide12.xml"/><Relationship Id="rId1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slide" Target="slide11.xml"/><Relationship Id="rId12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slide" Target="slide9.xml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7.png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6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slide" Target="slide12.xml"/><Relationship Id="rId5" Type="http://schemas.openxmlformats.org/officeDocument/2006/relationships/image" Target="../media/image16.png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slide" Target="slide10.xml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0.png"/><Relationship Id="rId7" Type="http://schemas.openxmlformats.org/officeDocument/2006/relationships/image" Target="../media/image7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11" Type="http://schemas.openxmlformats.org/officeDocument/2006/relationships/slide" Target="slide2.xml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slide" Target="slide11.xml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9.png"/><Relationship Id="rId3" Type="http://schemas.openxmlformats.org/officeDocument/2006/relationships/slide" Target="slide12.xml"/><Relationship Id="rId7" Type="http://schemas.openxmlformats.org/officeDocument/2006/relationships/image" Target="../media/image8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3.png"/><Relationship Id="rId5" Type="http://schemas.openxmlformats.org/officeDocument/2006/relationships/slide" Target="slide14.xml"/><Relationship Id="rId15" Type="http://schemas.openxmlformats.org/officeDocument/2006/relationships/image" Target="../media/image6.png"/><Relationship Id="rId10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21.png"/><Relationship Id="rId1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8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6.png"/><Relationship Id="rId5" Type="http://schemas.openxmlformats.org/officeDocument/2006/relationships/slide" Target="slide13.xml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1639341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ЛАБОРАТОРНАЯ РАБОТА №2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2134641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Искусственный интеллект </a:t>
            </a:r>
            <a:r>
              <a:rPr lang="en-US" sz="54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в повседневной жизни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00100" y="4195613"/>
            <a:ext cx="10820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Выполнил: Садана Эрланд Адестио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00100" y="4641353"/>
            <a:ext cx="10820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Студенческий билет: 1132255233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00100" y="5087094"/>
            <a:ext cx="10820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Группа: ЭЭУбд-07-25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>
      <p:transition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85950"/>
            <a:ext cx="52387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56769"/>
            <a:ext cx="5238750" cy="11733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Оглавление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2651819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 этой презентации мы рассмотрим, как технологии ИИ незаметно интегрировались в наш быт, от смартфонов до управления домом, и заглянем в ближайшее будущее.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4499669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Навигация осуществляется кнопками внизу или кликом по пунктам меню.</a:t>
            </a:r>
            <a:endParaRPr/>
          </a:p>
        </p:txBody>
      </p:sp>
      <p:sp>
        <p:nvSpPr>
          <p:cNvPr id="104" name="Google Shape;104;p14">
            <a:hlinkHover r:id="rId5" action="ppaction://hlinksldjump"/>
          </p:cNvPr>
          <p:cNvSpPr txBox="1"/>
          <p:nvPr/>
        </p:nvSpPr>
        <p:spPr>
          <a:xfrm>
            <a:off x="7105651" y="2505075"/>
            <a:ext cx="17703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Что такое ИИ?</a:t>
            </a:r>
            <a:endParaRPr dirty="0"/>
          </a:p>
        </p:txBody>
      </p:sp>
      <p:sp>
        <p:nvSpPr>
          <p:cNvPr id="105" name="Google Shape;105;p14">
            <a:hlinkHover r:id="rId6" action="ppaction://hlinksldjump"/>
          </p:cNvPr>
          <p:cNvSpPr txBox="1"/>
          <p:nvPr/>
        </p:nvSpPr>
        <p:spPr>
          <a:xfrm>
            <a:off x="7105651" y="3000375"/>
            <a:ext cx="21276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ИИ в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смартфонах</a:t>
            </a:r>
            <a:endParaRPr dirty="0"/>
          </a:p>
        </p:txBody>
      </p:sp>
      <p:sp>
        <p:nvSpPr>
          <p:cNvPr id="106" name="Google Shape;106;p14">
            <a:hlinkHover r:id="rId7" action="ppaction://hlinksldjump"/>
          </p:cNvPr>
          <p:cNvSpPr txBox="1"/>
          <p:nvPr/>
        </p:nvSpPr>
        <p:spPr>
          <a:xfrm>
            <a:off x="7105651" y="3495675"/>
            <a:ext cx="30788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Умный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дом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Инфографика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/>
          </a:p>
        </p:txBody>
      </p:sp>
      <p:sp>
        <p:nvSpPr>
          <p:cNvPr id="107" name="Google Shape;107;p14">
            <a:hlinkHover r:id="rId8" action="ppaction://hlinksldjump"/>
          </p:cNvPr>
          <p:cNvSpPr txBox="1"/>
          <p:nvPr/>
        </p:nvSpPr>
        <p:spPr>
          <a:xfrm>
            <a:off x="7105651" y="3990975"/>
            <a:ext cx="25218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Будущее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технологий</a:t>
            </a:r>
            <a:endParaRPr dirty="0"/>
          </a:p>
        </p:txBody>
      </p:sp>
      <p:sp>
        <p:nvSpPr>
          <p:cNvPr id="108" name="Google Shape;108;p14">
            <a:hlinkHover r:id="rId9" action="ppaction://hlinksldjump"/>
          </p:cNvPr>
          <p:cNvSpPr txBox="1"/>
          <p:nvPr/>
        </p:nvSpPr>
        <p:spPr>
          <a:xfrm>
            <a:off x="7105650" y="4486275"/>
            <a:ext cx="14970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05.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Викторина</a:t>
            </a:r>
            <a:endParaRPr dirty="0"/>
          </a:p>
        </p:txBody>
      </p:sp>
      <p:sp>
        <p:nvSpPr>
          <p:cNvPr id="109" name="Google Shape;109;p14">
            <a:hlinkHover r:id="rId10" action="ppaction://hlinksldjump"/>
          </p:cNvPr>
          <p:cNvSpPr txBox="1"/>
          <p:nvPr/>
        </p:nvSpPr>
        <p:spPr>
          <a:xfrm>
            <a:off x="7105650" y="4981575"/>
            <a:ext cx="14970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</a:t>
            </a:r>
            <a:endParaRPr dirty="0"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453776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72275" y="25241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72275" y="30194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72275" y="35147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72275" y="40100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72275" y="45053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72275" y="50006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3;p14" descr="image.png">
            <a:hlinkClick r:id="rId13" action="ppaction://hlinksldjump"/>
            <a:extLst>
              <a:ext uri="{FF2B5EF4-FFF2-40B4-BE49-F238E27FC236}">
                <a16:creationId xmlns:a16="http://schemas.microsoft.com/office/drawing/2014/main" id="{F564CB2D-4B00-0E1F-0498-D6141404ED6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94;p14" descr="image.png">
            <a:hlinkClick r:id="rId15" action="ppaction://hlinksldjump"/>
            <a:extLst>
              <a:ext uri="{FF2B5EF4-FFF2-40B4-BE49-F238E27FC236}">
                <a16:creationId xmlns:a16="http://schemas.microsoft.com/office/drawing/2014/main" id="{BA737D8A-6EDA-F656-8B89-403F8EBB6827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95;p14" descr="image.png">
            <a:hlinkClick r:id="rId17" action="ppaction://hlinksldjump"/>
            <a:extLst>
              <a:ext uri="{FF2B5EF4-FFF2-40B4-BE49-F238E27FC236}">
                <a16:creationId xmlns:a16="http://schemas.microsoft.com/office/drawing/2014/main" id="{C8E8227D-697C-C5DA-A317-DA894B1E1C9C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99;p14" descr="image.png">
            <a:extLst>
              <a:ext uri="{FF2B5EF4-FFF2-40B4-BE49-F238E27FC236}">
                <a16:creationId xmlns:a16="http://schemas.microsoft.com/office/drawing/2014/main" id="{36CB239B-77C5-051F-8A54-29D3C2E59612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0;p14" descr="image.png">
            <a:extLst>
              <a:ext uri="{FF2B5EF4-FFF2-40B4-BE49-F238E27FC236}">
                <a16:creationId xmlns:a16="http://schemas.microsoft.com/office/drawing/2014/main" id="{638DFF53-723F-9605-1A28-56A4BE5C1948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4" descr="image.png">
            <a:extLst>
              <a:ext uri="{FF2B5EF4-FFF2-40B4-BE49-F238E27FC236}">
                <a16:creationId xmlns:a16="http://schemas.microsoft.com/office/drawing/2014/main" id="{54EF9067-EE13-BF79-2542-9F7AAFBA8C23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6B653145-E7E8-D884-7D14-224E8FE7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>
            <a:hlinkHover r:id="rId3" action="ppaction://hlinksldjump"/>
            <a:extLst>
              <a:ext uri="{FF2B5EF4-FFF2-40B4-BE49-F238E27FC236}">
                <a16:creationId xmlns:a16="http://schemas.microsoft.com/office/drawing/2014/main" id="{C8386C2E-34EA-1DB8-60BA-16BEE6E7EDF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85950"/>
            <a:ext cx="52387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>
            <a:extLst>
              <a:ext uri="{FF2B5EF4-FFF2-40B4-BE49-F238E27FC236}">
                <a16:creationId xmlns:a16="http://schemas.microsoft.com/office/drawing/2014/main" id="{441377D2-1D6F-6E85-D033-740A630CCCC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6769"/>
            <a:ext cx="5238750" cy="11733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E8B2CF30-24C3-282E-D63F-CA4D6B671A97}"/>
              </a:ext>
            </a:extLst>
          </p:cNvPr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Оглавление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75EBBF27-926C-D8EC-6225-0F03C74A9BB9}"/>
              </a:ext>
            </a:extLst>
          </p:cNvPr>
          <p:cNvSpPr txBox="1"/>
          <p:nvPr/>
        </p:nvSpPr>
        <p:spPr>
          <a:xfrm>
            <a:off x="571500" y="2651819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 этой презентации мы рассмотрим, как технологии ИИ незаметно интегрировались в наш быт, от смартфонов до управления домом, и заглянем в ближайшее будущее.</a:t>
            </a:r>
            <a:endParaRPr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4D15A9E1-721C-80FD-38A2-D0F1CE73BB62}"/>
              </a:ext>
            </a:extLst>
          </p:cNvPr>
          <p:cNvSpPr txBox="1"/>
          <p:nvPr/>
        </p:nvSpPr>
        <p:spPr>
          <a:xfrm>
            <a:off x="762000" y="4499669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Навигация осуществляется кнопками внизу или кликом по пунктам меню.</a:t>
            </a:r>
            <a:endParaRPr/>
          </a:p>
        </p:txBody>
      </p:sp>
      <p:sp>
        <p:nvSpPr>
          <p:cNvPr id="104" name="Google Shape;104;p14">
            <a:hlinkClick r:id="rId6" action="ppaction://hlinksldjump"/>
            <a:extLst>
              <a:ext uri="{FF2B5EF4-FFF2-40B4-BE49-F238E27FC236}">
                <a16:creationId xmlns:a16="http://schemas.microsoft.com/office/drawing/2014/main" id="{813AC837-1D07-6E92-7314-343DD6DB9F96}"/>
              </a:ext>
            </a:extLst>
          </p:cNvPr>
          <p:cNvSpPr txBox="1"/>
          <p:nvPr/>
        </p:nvSpPr>
        <p:spPr>
          <a:xfrm>
            <a:off x="7105650" y="2505075"/>
            <a:ext cx="18439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01.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 Что такое ИИ?</a:t>
            </a:r>
            <a:endParaRPr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5" name="Google Shape;105;p14">
            <a:hlinkClick r:id="rId7" action="ppaction://hlinksldjump"/>
            <a:extLst>
              <a:ext uri="{FF2B5EF4-FFF2-40B4-BE49-F238E27FC236}">
                <a16:creationId xmlns:a16="http://schemas.microsoft.com/office/drawing/2014/main" id="{0C1443FC-FD5F-7B1C-A5F1-6EFACA6396FF}"/>
              </a:ext>
            </a:extLst>
          </p:cNvPr>
          <p:cNvSpPr txBox="1"/>
          <p:nvPr/>
        </p:nvSpPr>
        <p:spPr>
          <a:xfrm>
            <a:off x="7105651" y="3000375"/>
            <a:ext cx="21276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ИИ в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смартфонах</a:t>
            </a:r>
            <a:endParaRPr dirty="0"/>
          </a:p>
        </p:txBody>
      </p:sp>
      <p:sp>
        <p:nvSpPr>
          <p:cNvPr id="106" name="Google Shape;106;p14">
            <a:hlinkClick r:id="rId8" action="ppaction://hlinksldjump"/>
            <a:extLst>
              <a:ext uri="{FF2B5EF4-FFF2-40B4-BE49-F238E27FC236}">
                <a16:creationId xmlns:a16="http://schemas.microsoft.com/office/drawing/2014/main" id="{243B75F9-BCAC-1039-65D4-C6F096AD416E}"/>
              </a:ext>
            </a:extLst>
          </p:cNvPr>
          <p:cNvSpPr txBox="1"/>
          <p:nvPr/>
        </p:nvSpPr>
        <p:spPr>
          <a:xfrm>
            <a:off x="7105650" y="3495675"/>
            <a:ext cx="31366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Умный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дом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Инфографика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/>
          </a:p>
        </p:txBody>
      </p:sp>
      <p:sp>
        <p:nvSpPr>
          <p:cNvPr id="107" name="Google Shape;107;p14">
            <a:hlinkClick r:id="rId9" action="ppaction://hlinksldjump"/>
            <a:extLst>
              <a:ext uri="{FF2B5EF4-FFF2-40B4-BE49-F238E27FC236}">
                <a16:creationId xmlns:a16="http://schemas.microsoft.com/office/drawing/2014/main" id="{C8606064-2B66-79B2-9EA8-1E7E95111C44}"/>
              </a:ext>
            </a:extLst>
          </p:cNvPr>
          <p:cNvSpPr txBox="1"/>
          <p:nvPr/>
        </p:nvSpPr>
        <p:spPr>
          <a:xfrm>
            <a:off x="7105651" y="3990975"/>
            <a:ext cx="25218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Будущее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технологий</a:t>
            </a:r>
            <a:endParaRPr dirty="0"/>
          </a:p>
        </p:txBody>
      </p:sp>
      <p:sp>
        <p:nvSpPr>
          <p:cNvPr id="108" name="Google Shape;108;p14">
            <a:hlinkClick r:id="rId10" action="ppaction://hlinksldjump"/>
            <a:extLst>
              <a:ext uri="{FF2B5EF4-FFF2-40B4-BE49-F238E27FC236}">
                <a16:creationId xmlns:a16="http://schemas.microsoft.com/office/drawing/2014/main" id="{7DDF87E1-FB73-C535-C5F2-ED262F46D284}"/>
              </a:ext>
            </a:extLst>
          </p:cNvPr>
          <p:cNvSpPr txBox="1"/>
          <p:nvPr/>
        </p:nvSpPr>
        <p:spPr>
          <a:xfrm>
            <a:off x="7105651" y="4486275"/>
            <a:ext cx="14918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05.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Викторина</a:t>
            </a:r>
            <a:endParaRPr dirty="0"/>
          </a:p>
        </p:txBody>
      </p:sp>
      <p:sp>
        <p:nvSpPr>
          <p:cNvPr id="109" name="Google Shape;109;p14">
            <a:hlinkClick r:id="rId11" action="ppaction://hlinksldjump"/>
            <a:extLst>
              <a:ext uri="{FF2B5EF4-FFF2-40B4-BE49-F238E27FC236}">
                <a16:creationId xmlns:a16="http://schemas.microsoft.com/office/drawing/2014/main" id="{157FF8D0-BCE8-E965-8F7C-425FBA53B796}"/>
              </a:ext>
            </a:extLst>
          </p:cNvPr>
          <p:cNvSpPr txBox="1"/>
          <p:nvPr/>
        </p:nvSpPr>
        <p:spPr>
          <a:xfrm>
            <a:off x="7105651" y="4981575"/>
            <a:ext cx="15285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</a:t>
            </a:r>
            <a:endParaRPr dirty="0"/>
          </a:p>
        </p:txBody>
      </p:sp>
      <p:pic>
        <p:nvPicPr>
          <p:cNvPr id="110" name="Google Shape;110;p14" descr="image.png">
            <a:extLst>
              <a:ext uri="{FF2B5EF4-FFF2-40B4-BE49-F238E27FC236}">
                <a16:creationId xmlns:a16="http://schemas.microsoft.com/office/drawing/2014/main" id="{179BB7DA-E667-9D7A-8ED8-C37D96DA62C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2000" y="453776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>
            <a:extLst>
              <a:ext uri="{FF2B5EF4-FFF2-40B4-BE49-F238E27FC236}">
                <a16:creationId xmlns:a16="http://schemas.microsoft.com/office/drawing/2014/main" id="{EC229144-1A46-DF7E-9247-8EEAA3A25E2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25241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>
            <a:extLst>
              <a:ext uri="{FF2B5EF4-FFF2-40B4-BE49-F238E27FC236}">
                <a16:creationId xmlns:a16="http://schemas.microsoft.com/office/drawing/2014/main" id="{3F672F78-CE9C-CE57-94C7-6E03F1AF7F5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0194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>
            <a:extLst>
              <a:ext uri="{FF2B5EF4-FFF2-40B4-BE49-F238E27FC236}">
                <a16:creationId xmlns:a16="http://schemas.microsoft.com/office/drawing/2014/main" id="{E5A97A6A-6647-9F91-7B25-01912719637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5147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>
            <a:extLst>
              <a:ext uri="{FF2B5EF4-FFF2-40B4-BE49-F238E27FC236}">
                <a16:creationId xmlns:a16="http://schemas.microsoft.com/office/drawing/2014/main" id="{7415D532-44B4-DABE-3968-EB3FAAB0DF55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0100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>
            <a:extLst>
              <a:ext uri="{FF2B5EF4-FFF2-40B4-BE49-F238E27FC236}">
                <a16:creationId xmlns:a16="http://schemas.microsoft.com/office/drawing/2014/main" id="{9265B2BD-994C-F8E2-FE12-765216AE6179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5053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>
            <a:extLst>
              <a:ext uri="{FF2B5EF4-FFF2-40B4-BE49-F238E27FC236}">
                <a16:creationId xmlns:a16="http://schemas.microsoft.com/office/drawing/2014/main" id="{390792F5-7EC0-F531-FAD7-F2D0A42F18E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50006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AA404CEB-D827-3D2E-BE6A-B7518F8FF6BC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A3745729-6AC4-B60E-61DA-79BC54372FD7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4" descr="image.png">
            <a:extLst>
              <a:ext uri="{FF2B5EF4-FFF2-40B4-BE49-F238E27FC236}">
                <a16:creationId xmlns:a16="http://schemas.microsoft.com/office/drawing/2014/main" id="{BE223A32-FDFC-0DD6-5485-4345D0A66FD5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E28BA7D2-EEDD-48EF-F481-8654E3DFF809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4" descr="image.png">
            <a:extLst>
              <a:ext uri="{FF2B5EF4-FFF2-40B4-BE49-F238E27FC236}">
                <a16:creationId xmlns:a16="http://schemas.microsoft.com/office/drawing/2014/main" id="{11E523EA-6502-5675-5876-737C6F629A5B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1;p14" descr="image.png">
            <a:extLst>
              <a:ext uri="{FF2B5EF4-FFF2-40B4-BE49-F238E27FC236}">
                <a16:creationId xmlns:a16="http://schemas.microsoft.com/office/drawing/2014/main" id="{13EE82FD-D09E-9A85-523E-146972C55021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5947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773049A9-F037-94A2-5EBA-8A23B6D7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>
            <a:hlinkHover r:id="rId3" action="ppaction://hlinksldjump"/>
            <a:extLst>
              <a:ext uri="{FF2B5EF4-FFF2-40B4-BE49-F238E27FC236}">
                <a16:creationId xmlns:a16="http://schemas.microsoft.com/office/drawing/2014/main" id="{07181737-57BD-4A7D-A7C9-F508642CE3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85950"/>
            <a:ext cx="52387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>
            <a:extLst>
              <a:ext uri="{FF2B5EF4-FFF2-40B4-BE49-F238E27FC236}">
                <a16:creationId xmlns:a16="http://schemas.microsoft.com/office/drawing/2014/main" id="{6F2AFF23-2F5C-058A-C942-F267CAE6386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6769"/>
            <a:ext cx="5238750" cy="11733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BDCADCAE-7814-9982-F8B4-197F6526241D}"/>
              </a:ext>
            </a:extLst>
          </p:cNvPr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Оглавление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6A6CA920-E46A-DE5C-D575-68F50F26884A}"/>
              </a:ext>
            </a:extLst>
          </p:cNvPr>
          <p:cNvSpPr txBox="1"/>
          <p:nvPr/>
        </p:nvSpPr>
        <p:spPr>
          <a:xfrm>
            <a:off x="571500" y="2651819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 этой презентации мы рассмотрим, как технологии ИИ незаметно интегрировались в наш быт, от смартфонов до управления домом, и заглянем в ближайшее будущее.</a:t>
            </a:r>
            <a:endParaRPr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2AD4B3F9-9A2E-1734-3E87-FF74EE9F58D8}"/>
              </a:ext>
            </a:extLst>
          </p:cNvPr>
          <p:cNvSpPr txBox="1"/>
          <p:nvPr/>
        </p:nvSpPr>
        <p:spPr>
          <a:xfrm>
            <a:off x="762000" y="4499669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Навигация осуществляется кнопками внизу или кликом по пунктам меню.</a:t>
            </a:r>
            <a:endParaRPr/>
          </a:p>
        </p:txBody>
      </p:sp>
      <p:sp>
        <p:nvSpPr>
          <p:cNvPr id="104" name="Google Shape;104;p14">
            <a:hlinkClick r:id="rId6" action="ppaction://hlinksldjump"/>
            <a:extLst>
              <a:ext uri="{FF2B5EF4-FFF2-40B4-BE49-F238E27FC236}">
                <a16:creationId xmlns:a16="http://schemas.microsoft.com/office/drawing/2014/main" id="{93C9E40A-BC38-9625-8751-1507E7EFCD54}"/>
              </a:ext>
            </a:extLst>
          </p:cNvPr>
          <p:cNvSpPr txBox="1"/>
          <p:nvPr/>
        </p:nvSpPr>
        <p:spPr>
          <a:xfrm>
            <a:off x="7105651" y="2505075"/>
            <a:ext cx="18071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Что такое ИИ?</a:t>
            </a:r>
            <a:endParaRPr dirty="0"/>
          </a:p>
        </p:txBody>
      </p:sp>
      <p:sp>
        <p:nvSpPr>
          <p:cNvPr id="105" name="Google Shape;105;p14">
            <a:hlinkClick r:id="rId7" action="ppaction://hlinksldjump"/>
            <a:extLst>
              <a:ext uri="{FF2B5EF4-FFF2-40B4-BE49-F238E27FC236}">
                <a16:creationId xmlns:a16="http://schemas.microsoft.com/office/drawing/2014/main" id="{1C5DF6E6-6FB9-1FED-1E9C-52B68FD374F2}"/>
              </a:ext>
            </a:extLst>
          </p:cNvPr>
          <p:cNvSpPr txBox="1"/>
          <p:nvPr/>
        </p:nvSpPr>
        <p:spPr>
          <a:xfrm>
            <a:off x="7105650" y="3000375"/>
            <a:ext cx="21329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02.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 ИИ в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смартфонах</a:t>
            </a:r>
            <a:endParaRPr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6" name="Google Shape;106;p14">
            <a:hlinkClick r:id="rId8" action="ppaction://hlinksldjump"/>
            <a:extLst>
              <a:ext uri="{FF2B5EF4-FFF2-40B4-BE49-F238E27FC236}">
                <a16:creationId xmlns:a16="http://schemas.microsoft.com/office/drawing/2014/main" id="{5EFDF5FA-FC48-02A1-E087-A1ADC1EE3448}"/>
              </a:ext>
            </a:extLst>
          </p:cNvPr>
          <p:cNvSpPr txBox="1"/>
          <p:nvPr/>
        </p:nvSpPr>
        <p:spPr>
          <a:xfrm>
            <a:off x="7105650" y="3495675"/>
            <a:ext cx="30998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Умный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дом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Инфографика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/>
          </a:p>
        </p:txBody>
      </p:sp>
      <p:sp>
        <p:nvSpPr>
          <p:cNvPr id="107" name="Google Shape;107;p14">
            <a:hlinkClick r:id="rId9" action="ppaction://hlinksldjump"/>
            <a:extLst>
              <a:ext uri="{FF2B5EF4-FFF2-40B4-BE49-F238E27FC236}">
                <a16:creationId xmlns:a16="http://schemas.microsoft.com/office/drawing/2014/main" id="{3D393D9C-674A-24EC-81B7-25C7689F9BB3}"/>
              </a:ext>
            </a:extLst>
          </p:cNvPr>
          <p:cNvSpPr txBox="1"/>
          <p:nvPr/>
        </p:nvSpPr>
        <p:spPr>
          <a:xfrm>
            <a:off x="7105651" y="3990975"/>
            <a:ext cx="25218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Будущее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технологий</a:t>
            </a:r>
            <a:endParaRPr dirty="0"/>
          </a:p>
        </p:txBody>
      </p:sp>
      <p:sp>
        <p:nvSpPr>
          <p:cNvPr id="108" name="Google Shape;108;p14">
            <a:hlinkClick r:id="rId10" action="ppaction://hlinksldjump"/>
            <a:extLst>
              <a:ext uri="{FF2B5EF4-FFF2-40B4-BE49-F238E27FC236}">
                <a16:creationId xmlns:a16="http://schemas.microsoft.com/office/drawing/2014/main" id="{9BBC8ECE-A9FB-EDF6-8280-5E24682928C7}"/>
              </a:ext>
            </a:extLst>
          </p:cNvPr>
          <p:cNvSpPr txBox="1"/>
          <p:nvPr/>
        </p:nvSpPr>
        <p:spPr>
          <a:xfrm>
            <a:off x="7105650" y="4486275"/>
            <a:ext cx="1512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05.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Викторина</a:t>
            </a:r>
            <a:endParaRPr dirty="0"/>
          </a:p>
        </p:txBody>
      </p:sp>
      <p:sp>
        <p:nvSpPr>
          <p:cNvPr id="109" name="Google Shape;109;p14">
            <a:hlinkClick r:id="rId11" action="ppaction://hlinksldjump"/>
            <a:extLst>
              <a:ext uri="{FF2B5EF4-FFF2-40B4-BE49-F238E27FC236}">
                <a16:creationId xmlns:a16="http://schemas.microsoft.com/office/drawing/2014/main" id="{0681A430-6F0C-1978-83C9-9AB5232131D8}"/>
              </a:ext>
            </a:extLst>
          </p:cNvPr>
          <p:cNvSpPr txBox="1"/>
          <p:nvPr/>
        </p:nvSpPr>
        <p:spPr>
          <a:xfrm>
            <a:off x="7105650" y="4981575"/>
            <a:ext cx="1512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</a:t>
            </a:r>
            <a:endParaRPr dirty="0"/>
          </a:p>
        </p:txBody>
      </p:sp>
      <p:pic>
        <p:nvPicPr>
          <p:cNvPr id="110" name="Google Shape;110;p14" descr="image.png">
            <a:extLst>
              <a:ext uri="{FF2B5EF4-FFF2-40B4-BE49-F238E27FC236}">
                <a16:creationId xmlns:a16="http://schemas.microsoft.com/office/drawing/2014/main" id="{86A3F3CD-48F9-A29E-DC74-F1B2A286BD4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2000" y="453776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>
            <a:extLst>
              <a:ext uri="{FF2B5EF4-FFF2-40B4-BE49-F238E27FC236}">
                <a16:creationId xmlns:a16="http://schemas.microsoft.com/office/drawing/2014/main" id="{D72E4408-D81D-CD37-D1F0-4F3AEE9286C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25241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>
            <a:extLst>
              <a:ext uri="{FF2B5EF4-FFF2-40B4-BE49-F238E27FC236}">
                <a16:creationId xmlns:a16="http://schemas.microsoft.com/office/drawing/2014/main" id="{CBE590FC-D53B-583B-1A73-DFB3457A6FF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0194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>
            <a:extLst>
              <a:ext uri="{FF2B5EF4-FFF2-40B4-BE49-F238E27FC236}">
                <a16:creationId xmlns:a16="http://schemas.microsoft.com/office/drawing/2014/main" id="{CF0DF208-68AD-E490-3D41-8B0A003D266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5147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>
            <a:extLst>
              <a:ext uri="{FF2B5EF4-FFF2-40B4-BE49-F238E27FC236}">
                <a16:creationId xmlns:a16="http://schemas.microsoft.com/office/drawing/2014/main" id="{D37C6C7A-E11A-F98D-A0C3-D05416DEB3A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0100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>
            <a:extLst>
              <a:ext uri="{FF2B5EF4-FFF2-40B4-BE49-F238E27FC236}">
                <a16:creationId xmlns:a16="http://schemas.microsoft.com/office/drawing/2014/main" id="{AFBC636F-1A60-449E-2245-1804E0DFFB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5053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>
            <a:extLst>
              <a:ext uri="{FF2B5EF4-FFF2-40B4-BE49-F238E27FC236}">
                <a16:creationId xmlns:a16="http://schemas.microsoft.com/office/drawing/2014/main" id="{10387115-AE68-69AF-C651-3F2C99376AE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50006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B2D15601-E4C7-EF05-18CA-163C6BCCF74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69DA63EA-B460-38E8-EF89-51CDC57DE26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4" descr="image.png">
            <a:extLst>
              <a:ext uri="{FF2B5EF4-FFF2-40B4-BE49-F238E27FC236}">
                <a16:creationId xmlns:a16="http://schemas.microsoft.com/office/drawing/2014/main" id="{76DF8714-EB1F-0AF5-DAA9-411A222DBBB0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FA3EADEA-A12E-1024-3482-82A827629A9F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4" descr="image.png">
            <a:extLst>
              <a:ext uri="{FF2B5EF4-FFF2-40B4-BE49-F238E27FC236}">
                <a16:creationId xmlns:a16="http://schemas.microsoft.com/office/drawing/2014/main" id="{AD69D110-F120-E65E-0106-89236DFB3A07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1;p14" descr="image.png">
            <a:extLst>
              <a:ext uri="{FF2B5EF4-FFF2-40B4-BE49-F238E27FC236}">
                <a16:creationId xmlns:a16="http://schemas.microsoft.com/office/drawing/2014/main" id="{F7F1B8C2-1AF7-7B43-3452-75D4E1BCBD25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801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854654FB-D9C9-78D7-8852-98C947423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>
            <a:hlinkHover r:id="rId3" action="ppaction://hlinksldjump"/>
            <a:extLst>
              <a:ext uri="{FF2B5EF4-FFF2-40B4-BE49-F238E27FC236}">
                <a16:creationId xmlns:a16="http://schemas.microsoft.com/office/drawing/2014/main" id="{B048BD7C-9F2C-EF3E-93B7-9D34707D61B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85950"/>
            <a:ext cx="52387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>
            <a:extLst>
              <a:ext uri="{FF2B5EF4-FFF2-40B4-BE49-F238E27FC236}">
                <a16:creationId xmlns:a16="http://schemas.microsoft.com/office/drawing/2014/main" id="{0DFC5059-5970-2C07-3325-ED053B13E39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6769"/>
            <a:ext cx="5238750" cy="11733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632A819D-F160-B1FD-B1A8-BC813C709C56}"/>
              </a:ext>
            </a:extLst>
          </p:cNvPr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Оглавление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905DBC4D-20F6-10F7-30B2-FF3B89FBC5E1}"/>
              </a:ext>
            </a:extLst>
          </p:cNvPr>
          <p:cNvSpPr txBox="1"/>
          <p:nvPr/>
        </p:nvSpPr>
        <p:spPr>
          <a:xfrm>
            <a:off x="571500" y="2651819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 этой презентации мы рассмотрим, как технологии ИИ незаметно интегрировались в наш быт, от смартфонов до управления домом, и заглянем в ближайшее будущее.</a:t>
            </a:r>
            <a:endParaRPr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9FACBAE5-D7D0-E040-7F0B-9458E4BACAB9}"/>
              </a:ext>
            </a:extLst>
          </p:cNvPr>
          <p:cNvSpPr txBox="1"/>
          <p:nvPr/>
        </p:nvSpPr>
        <p:spPr>
          <a:xfrm>
            <a:off x="762000" y="4499669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Навигация осуществляется кнопками внизу или кликом по пунктам меню.</a:t>
            </a:r>
            <a:endParaRPr/>
          </a:p>
        </p:txBody>
      </p:sp>
      <p:sp>
        <p:nvSpPr>
          <p:cNvPr id="104" name="Google Shape;104;p14">
            <a:hlinkClick r:id="rId6" action="ppaction://hlinksldjump"/>
            <a:extLst>
              <a:ext uri="{FF2B5EF4-FFF2-40B4-BE49-F238E27FC236}">
                <a16:creationId xmlns:a16="http://schemas.microsoft.com/office/drawing/2014/main" id="{6F4E3510-EB2A-22DF-332A-786F4AC9C551}"/>
              </a:ext>
            </a:extLst>
          </p:cNvPr>
          <p:cNvSpPr txBox="1"/>
          <p:nvPr/>
        </p:nvSpPr>
        <p:spPr>
          <a:xfrm>
            <a:off x="7105651" y="2505075"/>
            <a:ext cx="18071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Что такое ИИ?</a:t>
            </a:r>
            <a:endParaRPr dirty="0"/>
          </a:p>
        </p:txBody>
      </p:sp>
      <p:sp>
        <p:nvSpPr>
          <p:cNvPr id="105" name="Google Shape;105;p14">
            <a:hlinkClick r:id="rId7" action="ppaction://hlinksldjump"/>
            <a:extLst>
              <a:ext uri="{FF2B5EF4-FFF2-40B4-BE49-F238E27FC236}">
                <a16:creationId xmlns:a16="http://schemas.microsoft.com/office/drawing/2014/main" id="{5C8EF447-5D6C-C998-3E77-E8FAC59AF424}"/>
              </a:ext>
            </a:extLst>
          </p:cNvPr>
          <p:cNvSpPr txBox="1"/>
          <p:nvPr/>
        </p:nvSpPr>
        <p:spPr>
          <a:xfrm>
            <a:off x="7105650" y="3000375"/>
            <a:ext cx="21329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02.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ИИ в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смартфонах</a:t>
            </a:r>
            <a:endParaRPr dirty="0">
              <a:effectLst/>
            </a:endParaRPr>
          </a:p>
        </p:txBody>
      </p:sp>
      <p:sp>
        <p:nvSpPr>
          <p:cNvPr id="106" name="Google Shape;106;p14">
            <a:hlinkClick r:id="rId8" action="ppaction://hlinksldjump"/>
            <a:extLst>
              <a:ext uri="{FF2B5EF4-FFF2-40B4-BE49-F238E27FC236}">
                <a16:creationId xmlns:a16="http://schemas.microsoft.com/office/drawing/2014/main" id="{B04A693D-95DF-6610-B97F-D6459EA7BA08}"/>
              </a:ext>
            </a:extLst>
          </p:cNvPr>
          <p:cNvSpPr txBox="1"/>
          <p:nvPr/>
        </p:nvSpPr>
        <p:spPr>
          <a:xfrm>
            <a:off x="7105650" y="3495675"/>
            <a:ext cx="30998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03.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Умный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дом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Инфографика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7" name="Google Shape;107;p14">
            <a:hlinkClick r:id="rId9" action="ppaction://hlinksldjump"/>
            <a:extLst>
              <a:ext uri="{FF2B5EF4-FFF2-40B4-BE49-F238E27FC236}">
                <a16:creationId xmlns:a16="http://schemas.microsoft.com/office/drawing/2014/main" id="{352190B6-0FC8-A27D-4446-D45326C3B46F}"/>
              </a:ext>
            </a:extLst>
          </p:cNvPr>
          <p:cNvSpPr txBox="1"/>
          <p:nvPr/>
        </p:nvSpPr>
        <p:spPr>
          <a:xfrm>
            <a:off x="7105651" y="3990975"/>
            <a:ext cx="25218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Будущее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технологий</a:t>
            </a:r>
            <a:endParaRPr dirty="0"/>
          </a:p>
        </p:txBody>
      </p:sp>
      <p:sp>
        <p:nvSpPr>
          <p:cNvPr id="108" name="Google Shape;108;p14">
            <a:hlinkClick r:id="rId10" action="ppaction://hlinksldjump"/>
            <a:extLst>
              <a:ext uri="{FF2B5EF4-FFF2-40B4-BE49-F238E27FC236}">
                <a16:creationId xmlns:a16="http://schemas.microsoft.com/office/drawing/2014/main" id="{1962A4FB-32E8-A230-E5A8-718F421E5395}"/>
              </a:ext>
            </a:extLst>
          </p:cNvPr>
          <p:cNvSpPr txBox="1"/>
          <p:nvPr/>
        </p:nvSpPr>
        <p:spPr>
          <a:xfrm>
            <a:off x="7105650" y="4486275"/>
            <a:ext cx="1512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05.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Викторина</a:t>
            </a:r>
            <a:endParaRPr dirty="0"/>
          </a:p>
        </p:txBody>
      </p:sp>
      <p:sp>
        <p:nvSpPr>
          <p:cNvPr id="109" name="Google Shape;109;p14">
            <a:hlinkClick r:id="rId11" action="ppaction://hlinksldjump"/>
            <a:extLst>
              <a:ext uri="{FF2B5EF4-FFF2-40B4-BE49-F238E27FC236}">
                <a16:creationId xmlns:a16="http://schemas.microsoft.com/office/drawing/2014/main" id="{787C67F9-A7D1-1CE2-AF01-A0BECDD7B778}"/>
              </a:ext>
            </a:extLst>
          </p:cNvPr>
          <p:cNvSpPr txBox="1"/>
          <p:nvPr/>
        </p:nvSpPr>
        <p:spPr>
          <a:xfrm>
            <a:off x="7105650" y="4981575"/>
            <a:ext cx="1512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</a:t>
            </a:r>
            <a:endParaRPr dirty="0"/>
          </a:p>
        </p:txBody>
      </p:sp>
      <p:pic>
        <p:nvPicPr>
          <p:cNvPr id="110" name="Google Shape;110;p14" descr="image.png">
            <a:extLst>
              <a:ext uri="{FF2B5EF4-FFF2-40B4-BE49-F238E27FC236}">
                <a16:creationId xmlns:a16="http://schemas.microsoft.com/office/drawing/2014/main" id="{E59E596B-8E3C-4083-85BD-7CAB6D009C9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2000" y="453776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>
            <a:extLst>
              <a:ext uri="{FF2B5EF4-FFF2-40B4-BE49-F238E27FC236}">
                <a16:creationId xmlns:a16="http://schemas.microsoft.com/office/drawing/2014/main" id="{8BB54756-2354-3329-E428-10B800CF8A19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25241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>
            <a:extLst>
              <a:ext uri="{FF2B5EF4-FFF2-40B4-BE49-F238E27FC236}">
                <a16:creationId xmlns:a16="http://schemas.microsoft.com/office/drawing/2014/main" id="{1C9BABC2-D530-C5E6-B2F3-DF63F5F44E34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0194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>
            <a:extLst>
              <a:ext uri="{FF2B5EF4-FFF2-40B4-BE49-F238E27FC236}">
                <a16:creationId xmlns:a16="http://schemas.microsoft.com/office/drawing/2014/main" id="{39F36275-4149-9F1B-BF1F-015429161CB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5147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>
            <a:extLst>
              <a:ext uri="{FF2B5EF4-FFF2-40B4-BE49-F238E27FC236}">
                <a16:creationId xmlns:a16="http://schemas.microsoft.com/office/drawing/2014/main" id="{90A649F6-A907-CBF3-B7F0-1DB7F60DD43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0100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>
            <a:extLst>
              <a:ext uri="{FF2B5EF4-FFF2-40B4-BE49-F238E27FC236}">
                <a16:creationId xmlns:a16="http://schemas.microsoft.com/office/drawing/2014/main" id="{BFE2020E-8C39-7FC0-A23C-63428F292375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5053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>
            <a:extLst>
              <a:ext uri="{FF2B5EF4-FFF2-40B4-BE49-F238E27FC236}">
                <a16:creationId xmlns:a16="http://schemas.microsoft.com/office/drawing/2014/main" id="{637DAE80-E643-FDB6-F752-B6F4A8B4280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50006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C71548DD-84FD-5385-C5D4-97C92B2936E9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B3FE267E-2F8E-968D-E8DE-909CC7A2D28D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4" descr="image.png">
            <a:extLst>
              <a:ext uri="{FF2B5EF4-FFF2-40B4-BE49-F238E27FC236}">
                <a16:creationId xmlns:a16="http://schemas.microsoft.com/office/drawing/2014/main" id="{A46FD040-9CE0-0E1D-22D1-92400D6553EE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5FC227A5-5058-7427-064B-70387D322BCF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4" descr="image.png">
            <a:extLst>
              <a:ext uri="{FF2B5EF4-FFF2-40B4-BE49-F238E27FC236}">
                <a16:creationId xmlns:a16="http://schemas.microsoft.com/office/drawing/2014/main" id="{2112BE9A-36C2-608C-A0DB-840B8E4BA0B4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1;p14" descr="image.png">
            <a:extLst>
              <a:ext uri="{FF2B5EF4-FFF2-40B4-BE49-F238E27FC236}">
                <a16:creationId xmlns:a16="http://schemas.microsoft.com/office/drawing/2014/main" id="{0CC8B997-BF51-26F7-1DE1-8C5D4587FD02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4593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596CC3C0-C938-070D-2AA1-6718D50D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>
            <a:hlinkHover r:id="rId3" action="ppaction://hlinksldjump"/>
            <a:extLst>
              <a:ext uri="{FF2B5EF4-FFF2-40B4-BE49-F238E27FC236}">
                <a16:creationId xmlns:a16="http://schemas.microsoft.com/office/drawing/2014/main" id="{8463F12B-586D-EABD-8B9A-72D22FBD6C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85950"/>
            <a:ext cx="52387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>
            <a:extLst>
              <a:ext uri="{FF2B5EF4-FFF2-40B4-BE49-F238E27FC236}">
                <a16:creationId xmlns:a16="http://schemas.microsoft.com/office/drawing/2014/main" id="{8353E81C-DDE0-7BAD-A44F-2512ECFFB0C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6769"/>
            <a:ext cx="5238750" cy="11733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A0482DF3-2C41-5274-3B9D-EF172EBED92C}"/>
              </a:ext>
            </a:extLst>
          </p:cNvPr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Оглавление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F1411940-3E40-2AB4-2E06-8C389C8C9CFC}"/>
              </a:ext>
            </a:extLst>
          </p:cNvPr>
          <p:cNvSpPr txBox="1"/>
          <p:nvPr/>
        </p:nvSpPr>
        <p:spPr>
          <a:xfrm>
            <a:off x="571500" y="2651819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 этой презентации мы рассмотрим, как технологии ИИ незаметно интегрировались в наш быт, от смартфонов до управления домом, и заглянем в ближайшее будущее.</a:t>
            </a:r>
            <a:endParaRPr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A1532184-D4A5-BC73-3CE8-2EB585127680}"/>
              </a:ext>
            </a:extLst>
          </p:cNvPr>
          <p:cNvSpPr txBox="1"/>
          <p:nvPr/>
        </p:nvSpPr>
        <p:spPr>
          <a:xfrm>
            <a:off x="762000" y="4499669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Навигация осуществляется кнопками внизу или кликом по пунктам меню.</a:t>
            </a:r>
            <a:endParaRPr/>
          </a:p>
        </p:txBody>
      </p:sp>
      <p:sp>
        <p:nvSpPr>
          <p:cNvPr id="104" name="Google Shape;104;p14">
            <a:hlinkClick r:id="rId6" action="ppaction://hlinksldjump"/>
            <a:extLst>
              <a:ext uri="{FF2B5EF4-FFF2-40B4-BE49-F238E27FC236}">
                <a16:creationId xmlns:a16="http://schemas.microsoft.com/office/drawing/2014/main" id="{66468240-D3F7-7BD5-DF48-949B27CCE8CB}"/>
              </a:ext>
            </a:extLst>
          </p:cNvPr>
          <p:cNvSpPr txBox="1"/>
          <p:nvPr/>
        </p:nvSpPr>
        <p:spPr>
          <a:xfrm>
            <a:off x="7105651" y="2505075"/>
            <a:ext cx="18071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Что такое ИИ?</a:t>
            </a:r>
            <a:endParaRPr dirty="0"/>
          </a:p>
        </p:txBody>
      </p:sp>
      <p:sp>
        <p:nvSpPr>
          <p:cNvPr id="105" name="Google Shape;105;p14">
            <a:hlinkClick r:id="rId7" action="ppaction://hlinksldjump"/>
            <a:extLst>
              <a:ext uri="{FF2B5EF4-FFF2-40B4-BE49-F238E27FC236}">
                <a16:creationId xmlns:a16="http://schemas.microsoft.com/office/drawing/2014/main" id="{C4C4ACE7-110D-47E2-BC62-5EF853524FDE}"/>
              </a:ext>
            </a:extLst>
          </p:cNvPr>
          <p:cNvSpPr txBox="1"/>
          <p:nvPr/>
        </p:nvSpPr>
        <p:spPr>
          <a:xfrm>
            <a:off x="7105650" y="3000375"/>
            <a:ext cx="21329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02.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ИИ в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смартфонах</a:t>
            </a:r>
            <a:endParaRPr dirty="0">
              <a:effectLst/>
            </a:endParaRPr>
          </a:p>
        </p:txBody>
      </p:sp>
      <p:sp>
        <p:nvSpPr>
          <p:cNvPr id="106" name="Google Shape;106;p14">
            <a:hlinkClick r:id="rId8" action="ppaction://hlinksldjump"/>
            <a:extLst>
              <a:ext uri="{FF2B5EF4-FFF2-40B4-BE49-F238E27FC236}">
                <a16:creationId xmlns:a16="http://schemas.microsoft.com/office/drawing/2014/main" id="{63263F07-9B0F-EBFC-843B-F884469EF7CE}"/>
              </a:ext>
            </a:extLst>
          </p:cNvPr>
          <p:cNvSpPr txBox="1"/>
          <p:nvPr/>
        </p:nvSpPr>
        <p:spPr>
          <a:xfrm>
            <a:off x="7105650" y="3495675"/>
            <a:ext cx="30998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03.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Умный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дом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Инфографика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>
              <a:effectLst/>
            </a:endParaRPr>
          </a:p>
        </p:txBody>
      </p:sp>
      <p:sp>
        <p:nvSpPr>
          <p:cNvPr id="107" name="Google Shape;107;p14">
            <a:hlinkClick r:id="rId9" action="ppaction://hlinksldjump"/>
            <a:extLst>
              <a:ext uri="{FF2B5EF4-FFF2-40B4-BE49-F238E27FC236}">
                <a16:creationId xmlns:a16="http://schemas.microsoft.com/office/drawing/2014/main" id="{E14147EF-3624-02EC-A8FC-57816DF0935D}"/>
              </a:ext>
            </a:extLst>
          </p:cNvPr>
          <p:cNvSpPr txBox="1"/>
          <p:nvPr/>
        </p:nvSpPr>
        <p:spPr>
          <a:xfrm>
            <a:off x="7105651" y="3990975"/>
            <a:ext cx="25218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04.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Будущее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технологий</a:t>
            </a:r>
            <a:endParaRPr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8" name="Google Shape;108;p14">
            <a:hlinkClick r:id="rId10" action="ppaction://hlinksldjump"/>
            <a:extLst>
              <a:ext uri="{FF2B5EF4-FFF2-40B4-BE49-F238E27FC236}">
                <a16:creationId xmlns:a16="http://schemas.microsoft.com/office/drawing/2014/main" id="{88D868B3-D42F-74F6-1FBB-AF5F4E516374}"/>
              </a:ext>
            </a:extLst>
          </p:cNvPr>
          <p:cNvSpPr txBox="1"/>
          <p:nvPr/>
        </p:nvSpPr>
        <p:spPr>
          <a:xfrm>
            <a:off x="7105650" y="4486275"/>
            <a:ext cx="1512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05.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Викторина</a:t>
            </a:r>
            <a:endParaRPr dirty="0"/>
          </a:p>
        </p:txBody>
      </p:sp>
      <p:sp>
        <p:nvSpPr>
          <p:cNvPr id="109" name="Google Shape;109;p14">
            <a:hlinkClick r:id="rId11" action="ppaction://hlinksldjump"/>
            <a:extLst>
              <a:ext uri="{FF2B5EF4-FFF2-40B4-BE49-F238E27FC236}">
                <a16:creationId xmlns:a16="http://schemas.microsoft.com/office/drawing/2014/main" id="{492AE853-FAFE-0080-E238-8F2D8EB64285}"/>
              </a:ext>
            </a:extLst>
          </p:cNvPr>
          <p:cNvSpPr txBox="1"/>
          <p:nvPr/>
        </p:nvSpPr>
        <p:spPr>
          <a:xfrm>
            <a:off x="7105650" y="4981575"/>
            <a:ext cx="1512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</a:t>
            </a:r>
            <a:endParaRPr dirty="0"/>
          </a:p>
        </p:txBody>
      </p:sp>
      <p:pic>
        <p:nvPicPr>
          <p:cNvPr id="110" name="Google Shape;110;p14" descr="image.png">
            <a:extLst>
              <a:ext uri="{FF2B5EF4-FFF2-40B4-BE49-F238E27FC236}">
                <a16:creationId xmlns:a16="http://schemas.microsoft.com/office/drawing/2014/main" id="{D2C62E60-62E0-1FB5-28BC-C6FACAA027EB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2000" y="453776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>
            <a:extLst>
              <a:ext uri="{FF2B5EF4-FFF2-40B4-BE49-F238E27FC236}">
                <a16:creationId xmlns:a16="http://schemas.microsoft.com/office/drawing/2014/main" id="{199F4302-760E-1D7E-48EB-BC8B8E330E8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25241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>
            <a:extLst>
              <a:ext uri="{FF2B5EF4-FFF2-40B4-BE49-F238E27FC236}">
                <a16:creationId xmlns:a16="http://schemas.microsoft.com/office/drawing/2014/main" id="{E928C903-97E4-7862-F741-B67FD5911D34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0194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>
            <a:extLst>
              <a:ext uri="{FF2B5EF4-FFF2-40B4-BE49-F238E27FC236}">
                <a16:creationId xmlns:a16="http://schemas.microsoft.com/office/drawing/2014/main" id="{0415F94F-53B1-C97B-5478-DBEB2BB2CEAF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5147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>
            <a:extLst>
              <a:ext uri="{FF2B5EF4-FFF2-40B4-BE49-F238E27FC236}">
                <a16:creationId xmlns:a16="http://schemas.microsoft.com/office/drawing/2014/main" id="{E1FDD7A4-0ECB-C84F-2DEE-3F50813E0B9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0100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>
            <a:extLst>
              <a:ext uri="{FF2B5EF4-FFF2-40B4-BE49-F238E27FC236}">
                <a16:creationId xmlns:a16="http://schemas.microsoft.com/office/drawing/2014/main" id="{37C4A939-7446-6497-A675-E6FA3A01014F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5053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>
            <a:extLst>
              <a:ext uri="{FF2B5EF4-FFF2-40B4-BE49-F238E27FC236}">
                <a16:creationId xmlns:a16="http://schemas.microsoft.com/office/drawing/2014/main" id="{14876244-4397-7C52-26AA-97CE5274E32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50006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18864C22-600F-82C9-B597-E49C381B95A6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6D71CEB3-C936-09E2-653A-546ED5C5B03C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4" descr="image.png">
            <a:extLst>
              <a:ext uri="{FF2B5EF4-FFF2-40B4-BE49-F238E27FC236}">
                <a16:creationId xmlns:a16="http://schemas.microsoft.com/office/drawing/2014/main" id="{7A3E0C87-F543-A8BA-52D6-734DCFDF6EA8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4B5CCD1E-6EB0-B5C7-0362-1E8763741A5D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4" descr="image.png">
            <a:extLst>
              <a:ext uri="{FF2B5EF4-FFF2-40B4-BE49-F238E27FC236}">
                <a16:creationId xmlns:a16="http://schemas.microsoft.com/office/drawing/2014/main" id="{B49664FC-AA12-F28F-D143-E5674421E276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1;p14" descr="image.png">
            <a:extLst>
              <a:ext uri="{FF2B5EF4-FFF2-40B4-BE49-F238E27FC236}">
                <a16:creationId xmlns:a16="http://schemas.microsoft.com/office/drawing/2014/main" id="{D9B0F22B-556A-42C2-C5AC-6A353D0D8A2A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655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DA07BFE6-725A-2B19-F713-6CD10A547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>
            <a:hlinkHover r:id="rId3" action="ppaction://hlinksldjump"/>
            <a:extLst>
              <a:ext uri="{FF2B5EF4-FFF2-40B4-BE49-F238E27FC236}">
                <a16:creationId xmlns:a16="http://schemas.microsoft.com/office/drawing/2014/main" id="{6D739327-3B14-7A77-8D5E-1B9AB7AA38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85950"/>
            <a:ext cx="52387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>
            <a:extLst>
              <a:ext uri="{FF2B5EF4-FFF2-40B4-BE49-F238E27FC236}">
                <a16:creationId xmlns:a16="http://schemas.microsoft.com/office/drawing/2014/main" id="{8047AEC0-0DDB-051D-DFD0-85E040DA7A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6769"/>
            <a:ext cx="5238750" cy="11733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AA39C25E-1D16-A1BB-AA3F-95420490AB1C}"/>
              </a:ext>
            </a:extLst>
          </p:cNvPr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Оглавление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BAFDB52D-F4D2-316A-CABD-1E4CF9DCDFD4}"/>
              </a:ext>
            </a:extLst>
          </p:cNvPr>
          <p:cNvSpPr txBox="1"/>
          <p:nvPr/>
        </p:nvSpPr>
        <p:spPr>
          <a:xfrm>
            <a:off x="571500" y="2651819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 этой презентации мы рассмотрим, как технологии ИИ незаметно интегрировались в наш быт, от смартфонов до управления домом, и заглянем в ближайшее будущее.</a:t>
            </a:r>
            <a:endParaRPr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8674E26D-3AC6-E968-1E61-789382FFE078}"/>
              </a:ext>
            </a:extLst>
          </p:cNvPr>
          <p:cNvSpPr txBox="1"/>
          <p:nvPr/>
        </p:nvSpPr>
        <p:spPr>
          <a:xfrm>
            <a:off x="762000" y="4499669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Навигация осуществляется кнопками внизу или кликом по пунктам меню.</a:t>
            </a:r>
            <a:endParaRPr/>
          </a:p>
        </p:txBody>
      </p:sp>
      <p:sp>
        <p:nvSpPr>
          <p:cNvPr id="104" name="Google Shape;104;p14">
            <a:hlinkClick r:id="rId6" action="ppaction://hlinksldjump"/>
            <a:extLst>
              <a:ext uri="{FF2B5EF4-FFF2-40B4-BE49-F238E27FC236}">
                <a16:creationId xmlns:a16="http://schemas.microsoft.com/office/drawing/2014/main" id="{B6CE3C54-6BEA-A790-3B23-22E21ECF9577}"/>
              </a:ext>
            </a:extLst>
          </p:cNvPr>
          <p:cNvSpPr txBox="1"/>
          <p:nvPr/>
        </p:nvSpPr>
        <p:spPr>
          <a:xfrm>
            <a:off x="7105651" y="2505075"/>
            <a:ext cx="18071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Что такое ИИ?</a:t>
            </a:r>
            <a:endParaRPr dirty="0"/>
          </a:p>
        </p:txBody>
      </p:sp>
      <p:sp>
        <p:nvSpPr>
          <p:cNvPr id="105" name="Google Shape;105;p14">
            <a:hlinkClick r:id="rId7" action="ppaction://hlinksldjump"/>
            <a:extLst>
              <a:ext uri="{FF2B5EF4-FFF2-40B4-BE49-F238E27FC236}">
                <a16:creationId xmlns:a16="http://schemas.microsoft.com/office/drawing/2014/main" id="{8F66986D-84AD-75AB-DFB6-821C2BE58903}"/>
              </a:ext>
            </a:extLst>
          </p:cNvPr>
          <p:cNvSpPr txBox="1"/>
          <p:nvPr/>
        </p:nvSpPr>
        <p:spPr>
          <a:xfrm>
            <a:off x="7105650" y="3000375"/>
            <a:ext cx="21329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02.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ИИ в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смартфонах</a:t>
            </a:r>
            <a:endParaRPr dirty="0">
              <a:effectLst/>
            </a:endParaRPr>
          </a:p>
        </p:txBody>
      </p:sp>
      <p:sp>
        <p:nvSpPr>
          <p:cNvPr id="106" name="Google Shape;106;p14">
            <a:hlinkClick r:id="rId8" action="ppaction://hlinksldjump"/>
            <a:extLst>
              <a:ext uri="{FF2B5EF4-FFF2-40B4-BE49-F238E27FC236}">
                <a16:creationId xmlns:a16="http://schemas.microsoft.com/office/drawing/2014/main" id="{4BB936C6-0E99-4B20-44D0-046C28E34072}"/>
              </a:ext>
            </a:extLst>
          </p:cNvPr>
          <p:cNvSpPr txBox="1"/>
          <p:nvPr/>
        </p:nvSpPr>
        <p:spPr>
          <a:xfrm>
            <a:off x="7105650" y="3495675"/>
            <a:ext cx="30998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03.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Умный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дом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Инфографика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>
              <a:effectLst/>
            </a:endParaRPr>
          </a:p>
        </p:txBody>
      </p:sp>
      <p:sp>
        <p:nvSpPr>
          <p:cNvPr id="107" name="Google Shape;107;p14">
            <a:hlinkClick r:id="rId9" action="ppaction://hlinksldjump"/>
            <a:extLst>
              <a:ext uri="{FF2B5EF4-FFF2-40B4-BE49-F238E27FC236}">
                <a16:creationId xmlns:a16="http://schemas.microsoft.com/office/drawing/2014/main" id="{527136AD-7B2B-1E40-3429-D0DDD29C3BED}"/>
              </a:ext>
            </a:extLst>
          </p:cNvPr>
          <p:cNvSpPr txBox="1"/>
          <p:nvPr/>
        </p:nvSpPr>
        <p:spPr>
          <a:xfrm>
            <a:off x="7105651" y="3990975"/>
            <a:ext cx="25218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04.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Будущее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технологий</a:t>
            </a:r>
            <a:endParaRPr dirty="0">
              <a:effectLst/>
            </a:endParaRPr>
          </a:p>
        </p:txBody>
      </p:sp>
      <p:sp>
        <p:nvSpPr>
          <p:cNvPr id="108" name="Google Shape;108;p14">
            <a:hlinkClick r:id="rId10" action="ppaction://hlinksldjump"/>
            <a:extLst>
              <a:ext uri="{FF2B5EF4-FFF2-40B4-BE49-F238E27FC236}">
                <a16:creationId xmlns:a16="http://schemas.microsoft.com/office/drawing/2014/main" id="{9E99F5CE-2C99-1D3B-258D-47225CF5D6A0}"/>
              </a:ext>
            </a:extLst>
          </p:cNvPr>
          <p:cNvSpPr txBox="1"/>
          <p:nvPr/>
        </p:nvSpPr>
        <p:spPr>
          <a:xfrm>
            <a:off x="7105650" y="4486275"/>
            <a:ext cx="1512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05.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Викторина</a:t>
            </a:r>
            <a:endParaRPr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9" name="Google Shape;109;p14">
            <a:hlinkClick r:id="rId11" action="ppaction://hlinksldjump"/>
            <a:extLst>
              <a:ext uri="{FF2B5EF4-FFF2-40B4-BE49-F238E27FC236}">
                <a16:creationId xmlns:a16="http://schemas.microsoft.com/office/drawing/2014/main" id="{B47C4C2D-E0CD-09EE-BEFC-CF3532D4EE8C}"/>
              </a:ext>
            </a:extLst>
          </p:cNvPr>
          <p:cNvSpPr txBox="1"/>
          <p:nvPr/>
        </p:nvSpPr>
        <p:spPr>
          <a:xfrm>
            <a:off x="7105650" y="4981575"/>
            <a:ext cx="1512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</a:t>
            </a:r>
            <a:endParaRPr dirty="0"/>
          </a:p>
        </p:txBody>
      </p:sp>
      <p:pic>
        <p:nvPicPr>
          <p:cNvPr id="110" name="Google Shape;110;p14" descr="image.png">
            <a:extLst>
              <a:ext uri="{FF2B5EF4-FFF2-40B4-BE49-F238E27FC236}">
                <a16:creationId xmlns:a16="http://schemas.microsoft.com/office/drawing/2014/main" id="{916D1DC6-C97E-C54D-7A4A-CE114DA7ED5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2000" y="453776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>
            <a:extLst>
              <a:ext uri="{FF2B5EF4-FFF2-40B4-BE49-F238E27FC236}">
                <a16:creationId xmlns:a16="http://schemas.microsoft.com/office/drawing/2014/main" id="{D8FD6AE3-B787-EF8E-DD47-59785F95A1E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25241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>
            <a:extLst>
              <a:ext uri="{FF2B5EF4-FFF2-40B4-BE49-F238E27FC236}">
                <a16:creationId xmlns:a16="http://schemas.microsoft.com/office/drawing/2014/main" id="{8EDCF6FE-4CBA-A9A3-D1DD-04B0DA0B61D4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0194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>
            <a:extLst>
              <a:ext uri="{FF2B5EF4-FFF2-40B4-BE49-F238E27FC236}">
                <a16:creationId xmlns:a16="http://schemas.microsoft.com/office/drawing/2014/main" id="{72C7F636-67ED-08D1-CEFE-E37402D0B4A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5147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>
            <a:extLst>
              <a:ext uri="{FF2B5EF4-FFF2-40B4-BE49-F238E27FC236}">
                <a16:creationId xmlns:a16="http://schemas.microsoft.com/office/drawing/2014/main" id="{F74C5468-5253-6E9B-EE9A-163D80964F49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0100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>
            <a:extLst>
              <a:ext uri="{FF2B5EF4-FFF2-40B4-BE49-F238E27FC236}">
                <a16:creationId xmlns:a16="http://schemas.microsoft.com/office/drawing/2014/main" id="{FCE02E81-32B5-87C3-6277-B73DD58182A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5053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>
            <a:extLst>
              <a:ext uri="{FF2B5EF4-FFF2-40B4-BE49-F238E27FC236}">
                <a16:creationId xmlns:a16="http://schemas.microsoft.com/office/drawing/2014/main" id="{22AC3679-93B8-FE90-0453-AB359B38748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50006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15ED9E67-3A3C-EEDE-FC62-23137F8C42C8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AB9F5882-BF98-6AB0-248A-4D12A17229F7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4" descr="image.png">
            <a:extLst>
              <a:ext uri="{FF2B5EF4-FFF2-40B4-BE49-F238E27FC236}">
                <a16:creationId xmlns:a16="http://schemas.microsoft.com/office/drawing/2014/main" id="{AAEFACBF-B6CD-1197-8169-C6F94905ECE1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AB6472D9-C99C-1D3A-2B17-34D0E8FE09B8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4" descr="image.png">
            <a:extLst>
              <a:ext uri="{FF2B5EF4-FFF2-40B4-BE49-F238E27FC236}">
                <a16:creationId xmlns:a16="http://schemas.microsoft.com/office/drawing/2014/main" id="{B9C72EB3-244C-1D45-3D74-918A3370A8B6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1;p14" descr="image.png">
            <a:extLst>
              <a:ext uri="{FF2B5EF4-FFF2-40B4-BE49-F238E27FC236}">
                <a16:creationId xmlns:a16="http://schemas.microsoft.com/office/drawing/2014/main" id="{CDDEBE46-CC29-C931-9FC3-A34FE9FDCB7F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625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5E570A71-6C88-F5D0-59D6-F542D1B1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>
            <a:hlinkHover r:id="rId3" action="ppaction://hlinksldjump"/>
            <a:extLst>
              <a:ext uri="{FF2B5EF4-FFF2-40B4-BE49-F238E27FC236}">
                <a16:creationId xmlns:a16="http://schemas.microsoft.com/office/drawing/2014/main" id="{A5E4222B-D00A-70BD-7530-8DD8B82253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85950"/>
            <a:ext cx="52387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>
            <a:extLst>
              <a:ext uri="{FF2B5EF4-FFF2-40B4-BE49-F238E27FC236}">
                <a16:creationId xmlns:a16="http://schemas.microsoft.com/office/drawing/2014/main" id="{F58AFE01-D9D9-5FF7-FD9E-6B49E27F0AA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6769"/>
            <a:ext cx="5238750" cy="11733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C4F86690-0FA0-AEDB-A4D2-66A3D26D39BC}"/>
              </a:ext>
            </a:extLst>
          </p:cNvPr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Оглавление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EB4C397A-E1BC-FAAA-DF41-9305FF830CC5}"/>
              </a:ext>
            </a:extLst>
          </p:cNvPr>
          <p:cNvSpPr txBox="1"/>
          <p:nvPr/>
        </p:nvSpPr>
        <p:spPr>
          <a:xfrm>
            <a:off x="571500" y="2651819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 этой презентации мы рассмотрим, как технологии ИИ незаметно интегрировались в наш быт, от смартфонов до управления домом, и заглянем в ближайшее будущее.</a:t>
            </a:r>
            <a:endParaRPr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98D5E1F8-1380-5B7F-D5E3-9D2CABFC5955}"/>
              </a:ext>
            </a:extLst>
          </p:cNvPr>
          <p:cNvSpPr txBox="1"/>
          <p:nvPr/>
        </p:nvSpPr>
        <p:spPr>
          <a:xfrm>
            <a:off x="762000" y="4499669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Навигация осуществляется кнопками внизу или кликом по пунктам меню.</a:t>
            </a:r>
            <a:endParaRPr/>
          </a:p>
        </p:txBody>
      </p:sp>
      <p:sp>
        <p:nvSpPr>
          <p:cNvPr id="104" name="Google Shape;104;p14">
            <a:hlinkClick r:id="rId6" action="ppaction://hlinksldjump"/>
            <a:extLst>
              <a:ext uri="{FF2B5EF4-FFF2-40B4-BE49-F238E27FC236}">
                <a16:creationId xmlns:a16="http://schemas.microsoft.com/office/drawing/2014/main" id="{3B0056BB-2DBD-6022-E72B-43E053C71673}"/>
              </a:ext>
            </a:extLst>
          </p:cNvPr>
          <p:cNvSpPr txBox="1"/>
          <p:nvPr/>
        </p:nvSpPr>
        <p:spPr>
          <a:xfrm>
            <a:off x="7105651" y="2505075"/>
            <a:ext cx="18071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Что такое ИИ?</a:t>
            </a:r>
            <a:endParaRPr dirty="0"/>
          </a:p>
        </p:txBody>
      </p:sp>
      <p:sp>
        <p:nvSpPr>
          <p:cNvPr id="105" name="Google Shape;105;p14">
            <a:hlinkClick r:id="rId7" action="ppaction://hlinksldjump"/>
            <a:extLst>
              <a:ext uri="{FF2B5EF4-FFF2-40B4-BE49-F238E27FC236}">
                <a16:creationId xmlns:a16="http://schemas.microsoft.com/office/drawing/2014/main" id="{08428991-ACAF-935A-0C75-E093420F3580}"/>
              </a:ext>
            </a:extLst>
          </p:cNvPr>
          <p:cNvSpPr txBox="1"/>
          <p:nvPr/>
        </p:nvSpPr>
        <p:spPr>
          <a:xfrm>
            <a:off x="7105650" y="3000375"/>
            <a:ext cx="21329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02.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ИИ в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смартфонах</a:t>
            </a:r>
            <a:endParaRPr dirty="0">
              <a:effectLst/>
            </a:endParaRPr>
          </a:p>
        </p:txBody>
      </p:sp>
      <p:sp>
        <p:nvSpPr>
          <p:cNvPr id="106" name="Google Shape;106;p14">
            <a:hlinkClick r:id="rId8" action="ppaction://hlinksldjump"/>
            <a:extLst>
              <a:ext uri="{FF2B5EF4-FFF2-40B4-BE49-F238E27FC236}">
                <a16:creationId xmlns:a16="http://schemas.microsoft.com/office/drawing/2014/main" id="{27966065-F32B-02C9-72C2-1C38B6A39B89}"/>
              </a:ext>
            </a:extLst>
          </p:cNvPr>
          <p:cNvSpPr txBox="1"/>
          <p:nvPr/>
        </p:nvSpPr>
        <p:spPr>
          <a:xfrm>
            <a:off x="7105650" y="3495675"/>
            <a:ext cx="30998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03.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Умный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дом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Инфографика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>
              <a:effectLst/>
            </a:endParaRPr>
          </a:p>
        </p:txBody>
      </p:sp>
      <p:sp>
        <p:nvSpPr>
          <p:cNvPr id="107" name="Google Shape;107;p14">
            <a:hlinkClick r:id="rId9" action="ppaction://hlinksldjump"/>
            <a:extLst>
              <a:ext uri="{FF2B5EF4-FFF2-40B4-BE49-F238E27FC236}">
                <a16:creationId xmlns:a16="http://schemas.microsoft.com/office/drawing/2014/main" id="{7ADD5840-0319-D6B4-50B5-3391A2049700}"/>
              </a:ext>
            </a:extLst>
          </p:cNvPr>
          <p:cNvSpPr txBox="1"/>
          <p:nvPr/>
        </p:nvSpPr>
        <p:spPr>
          <a:xfrm>
            <a:off x="7105651" y="3990975"/>
            <a:ext cx="25218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04.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Будущее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технологий</a:t>
            </a:r>
            <a:endParaRPr dirty="0">
              <a:effectLst/>
            </a:endParaRPr>
          </a:p>
        </p:txBody>
      </p:sp>
      <p:sp>
        <p:nvSpPr>
          <p:cNvPr id="108" name="Google Shape;108;p14">
            <a:hlinkClick r:id="rId10" action="ppaction://hlinksldjump"/>
            <a:extLst>
              <a:ext uri="{FF2B5EF4-FFF2-40B4-BE49-F238E27FC236}">
                <a16:creationId xmlns:a16="http://schemas.microsoft.com/office/drawing/2014/main" id="{90A8AC00-4D29-8983-0C85-0A080BF814CD}"/>
              </a:ext>
            </a:extLst>
          </p:cNvPr>
          <p:cNvSpPr txBox="1"/>
          <p:nvPr/>
        </p:nvSpPr>
        <p:spPr>
          <a:xfrm>
            <a:off x="7105650" y="4486275"/>
            <a:ext cx="1512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05.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Викторина</a:t>
            </a:r>
            <a:endParaRPr dirty="0">
              <a:effectLst/>
            </a:endParaRPr>
          </a:p>
        </p:txBody>
      </p:sp>
      <p:sp>
        <p:nvSpPr>
          <p:cNvPr id="109" name="Google Shape;109;p14">
            <a:hlinkClick r:id="rId11" action="ppaction://hlinksldjump"/>
            <a:extLst>
              <a:ext uri="{FF2B5EF4-FFF2-40B4-BE49-F238E27FC236}">
                <a16:creationId xmlns:a16="http://schemas.microsoft.com/office/drawing/2014/main" id="{04D591CE-4545-0FA6-CE3D-E9A0414F1897}"/>
              </a:ext>
            </a:extLst>
          </p:cNvPr>
          <p:cNvSpPr txBox="1"/>
          <p:nvPr/>
        </p:nvSpPr>
        <p:spPr>
          <a:xfrm>
            <a:off x="7105650" y="4981575"/>
            <a:ext cx="1512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06.</a:t>
            </a:r>
            <a:r>
              <a:rPr lang="en-US" sz="1500" b="0" i="0" u="none" strike="noStrike" cap="none" dirty="0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Источники</a:t>
            </a:r>
            <a:endParaRPr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10" name="Google Shape;110;p14" descr="image.png">
            <a:extLst>
              <a:ext uri="{FF2B5EF4-FFF2-40B4-BE49-F238E27FC236}">
                <a16:creationId xmlns:a16="http://schemas.microsoft.com/office/drawing/2014/main" id="{B46735B5-FC66-9180-8614-95286C5E16A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2000" y="453776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>
            <a:extLst>
              <a:ext uri="{FF2B5EF4-FFF2-40B4-BE49-F238E27FC236}">
                <a16:creationId xmlns:a16="http://schemas.microsoft.com/office/drawing/2014/main" id="{86D87E4B-0A87-6B0D-98AC-72CC9657B98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25241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>
            <a:extLst>
              <a:ext uri="{FF2B5EF4-FFF2-40B4-BE49-F238E27FC236}">
                <a16:creationId xmlns:a16="http://schemas.microsoft.com/office/drawing/2014/main" id="{CBBE4DB2-77A1-5DC9-4F28-6DC40468FE19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0194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>
            <a:extLst>
              <a:ext uri="{FF2B5EF4-FFF2-40B4-BE49-F238E27FC236}">
                <a16:creationId xmlns:a16="http://schemas.microsoft.com/office/drawing/2014/main" id="{EA34ABBE-AB42-3211-1B3B-EA57B396DEC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35147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>
            <a:extLst>
              <a:ext uri="{FF2B5EF4-FFF2-40B4-BE49-F238E27FC236}">
                <a16:creationId xmlns:a16="http://schemas.microsoft.com/office/drawing/2014/main" id="{5AE91D73-AFC2-AD63-B61C-FB0DED0D092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0100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>
            <a:extLst>
              <a:ext uri="{FF2B5EF4-FFF2-40B4-BE49-F238E27FC236}">
                <a16:creationId xmlns:a16="http://schemas.microsoft.com/office/drawing/2014/main" id="{459F416B-C6E4-380E-E794-89D3EAA4321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45053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>
            <a:extLst>
              <a:ext uri="{FF2B5EF4-FFF2-40B4-BE49-F238E27FC236}">
                <a16:creationId xmlns:a16="http://schemas.microsoft.com/office/drawing/2014/main" id="{47A7C91D-CCC9-001C-5908-2F73FFD847E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72275" y="50006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7410B886-2E14-CE07-DEAC-6DDC5EF3923F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62C335FA-91AE-81A3-8C3A-BAAFB9E93D7A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4" descr="image.png">
            <a:extLst>
              <a:ext uri="{FF2B5EF4-FFF2-40B4-BE49-F238E27FC236}">
                <a16:creationId xmlns:a16="http://schemas.microsoft.com/office/drawing/2014/main" id="{E8A9A230-B330-5C1E-C0E8-20086BB3CA28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32F28B1A-721D-A16C-DE3A-D2E565C455DD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4" descr="image.png">
            <a:extLst>
              <a:ext uri="{FF2B5EF4-FFF2-40B4-BE49-F238E27FC236}">
                <a16:creationId xmlns:a16="http://schemas.microsoft.com/office/drawing/2014/main" id="{14028DF6-BEDB-903A-3E01-FA01B77EB625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1;p14" descr="image.png">
            <a:extLst>
              <a:ext uri="{FF2B5EF4-FFF2-40B4-BE49-F238E27FC236}">
                <a16:creationId xmlns:a16="http://schemas.microsoft.com/office/drawing/2014/main" id="{FB80B8C4-236D-CF23-2A2B-3A427F6A2B84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594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2251" y="1504950"/>
            <a:ext cx="4651966" cy="4533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Что такое </a:t>
            </a:r>
            <a:r>
              <a:rPr lang="en-US" sz="42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Искусственный</a:t>
            </a:r>
            <a:r>
              <a:rPr lang="en-US" sz="42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Интеллект</a:t>
            </a:r>
            <a:r>
              <a:rPr lang="en-US" sz="42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1504950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1859153"/>
            <a:ext cx="523875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Искусственный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интеллект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(ИИ) —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это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способность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компьютерных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систем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задачи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обычно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требующие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человеческого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интеллекта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такие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как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визуальное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восприятие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распознавание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речи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принятие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решений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571500" y="3749675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Типы</a:t>
            </a:r>
            <a:r>
              <a:rPr lang="en-US" sz="24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 ИИ</a:t>
            </a:r>
            <a:endParaRPr dirty="0"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1776" y="1514475"/>
            <a:ext cx="4642992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904875" y="4159250"/>
            <a:ext cx="49053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Слабый</a:t>
            </a:r>
            <a:r>
              <a:rPr lang="en-US" b="1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ИИ (Narrow AI):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Решает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узкоспециализированные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задачи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(Siri,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поиск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Google).</a:t>
            </a:r>
            <a:endParaRPr sz="1200"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904875" y="5264150"/>
            <a:ext cx="490537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Сильный</a:t>
            </a:r>
            <a:r>
              <a:rPr lang="en-US" b="1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ИИ (General AI):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Гипотетическая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обладающая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разумом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равным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человеческому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dirty="0"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656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2705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3;p14" descr="image.png">
            <a:hlinkClick r:id="rId6" action="ppaction://hlinksldjump"/>
            <a:extLst>
              <a:ext uri="{FF2B5EF4-FFF2-40B4-BE49-F238E27FC236}">
                <a16:creationId xmlns:a16="http://schemas.microsoft.com/office/drawing/2014/main" id="{02F70C69-D9AD-51FB-337A-77B42C9EF9E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4" descr="image.png">
            <a:hlinkClick r:id="rId8" action="ppaction://hlinksldjump"/>
            <a:extLst>
              <a:ext uri="{FF2B5EF4-FFF2-40B4-BE49-F238E27FC236}">
                <a16:creationId xmlns:a16="http://schemas.microsoft.com/office/drawing/2014/main" id="{BF171451-A8B6-6AEC-C18A-131E2270541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F8AF12AA-D12D-E781-EA51-F2AC6188A8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4" descr="image.png">
            <a:extLst>
              <a:ext uri="{FF2B5EF4-FFF2-40B4-BE49-F238E27FC236}">
                <a16:creationId xmlns:a16="http://schemas.microsoft.com/office/drawing/2014/main" id="{59E11AA0-6576-9094-DEC9-46BBB47EF1F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1;p14" descr="image.png">
            <a:extLst>
              <a:ext uri="{FF2B5EF4-FFF2-40B4-BE49-F238E27FC236}">
                <a16:creationId xmlns:a16="http://schemas.microsoft.com/office/drawing/2014/main" id="{F508BEA4-4B71-3752-BFEC-F4AE7CECE65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4;p14" descr="image.png">
            <a:hlinkClick r:id="rId6" action="ppaction://hlinksldjump"/>
            <a:extLst>
              <a:ext uri="{FF2B5EF4-FFF2-40B4-BE49-F238E27FC236}">
                <a16:creationId xmlns:a16="http://schemas.microsoft.com/office/drawing/2014/main" id="{8CC1CAAA-DA6D-0991-6CB8-FCCBB5F6D38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761999" y="762000"/>
            <a:ext cx="5613399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ИИ в </a:t>
            </a:r>
            <a:r>
              <a:rPr lang="en-US" sz="44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вашем</a:t>
            </a:r>
            <a:r>
              <a:rPr lang="en-US" sz="44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кармане</a:t>
            </a:r>
            <a:endParaRPr dirty="0"/>
          </a:p>
        </p:txBody>
      </p:sp>
      <p:sp>
        <p:nvSpPr>
          <p:cNvPr id="146" name="Google Shape;146;p16"/>
          <p:cNvSpPr txBox="1"/>
          <p:nvPr/>
        </p:nvSpPr>
        <p:spPr>
          <a:xfrm>
            <a:off x="762000" y="1920430"/>
            <a:ext cx="56134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Смартфоны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стали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главными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проводниками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ИИ в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нашу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жизнь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Мы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используем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его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сотни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раз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в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день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даже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не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замечая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этого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dirty="0"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5575" y="0"/>
            <a:ext cx="5686425" cy="581566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1095375" y="3054350"/>
            <a:ext cx="521652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FaceID</a:t>
            </a:r>
            <a:r>
              <a:rPr lang="en-US" b="1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b="1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Биометрия</a:t>
            </a:r>
            <a:r>
              <a:rPr lang="en-US" b="1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Нейросети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сканируют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тысячи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точек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лице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для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мгновенной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разблокировки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1095375" y="3803650"/>
            <a:ext cx="568642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Обработка</a:t>
            </a:r>
            <a:r>
              <a:rPr lang="en-US" b="1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фото</a:t>
            </a:r>
            <a:r>
              <a:rPr lang="en-US" b="1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Алгоритмы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автоматически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улучшают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освещение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убирают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шумы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размывают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фон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1095375" y="4545679"/>
            <a:ext cx="528002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Голосовые</a:t>
            </a:r>
            <a:r>
              <a:rPr lang="en-US" b="1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ассистенты</a:t>
            </a:r>
            <a:r>
              <a:rPr lang="en-US" b="1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Siri и Google Assistant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распознают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естественную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речь</a:t>
            </a:r>
            <a:r>
              <a:rPr lang="en-US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dirty="0"/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734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8227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56472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3;p14" descr="image.png">
            <a:hlinkClick r:id="rId5" action="ppaction://hlinksldjump"/>
            <a:extLst>
              <a:ext uri="{FF2B5EF4-FFF2-40B4-BE49-F238E27FC236}">
                <a16:creationId xmlns:a16="http://schemas.microsoft.com/office/drawing/2014/main" id="{45AE7F4B-C4FB-1DA9-0815-FB6103A2E05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4" descr="image.png">
            <a:hlinkClick r:id="rId7" action="ppaction://hlinksldjump"/>
            <a:extLst>
              <a:ext uri="{FF2B5EF4-FFF2-40B4-BE49-F238E27FC236}">
                <a16:creationId xmlns:a16="http://schemas.microsoft.com/office/drawing/2014/main" id="{193FD027-4916-D6AE-F458-9A3F405803C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4CBB1A88-C043-0289-82EC-DCEC5A399CA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4" descr="image.png">
            <a:extLst>
              <a:ext uri="{FF2B5EF4-FFF2-40B4-BE49-F238E27FC236}">
                <a16:creationId xmlns:a16="http://schemas.microsoft.com/office/drawing/2014/main" id="{77CBDF34-C02C-D56E-822D-56DB4D7D4A8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1;p14" descr="image.png">
            <a:extLst>
              <a:ext uri="{FF2B5EF4-FFF2-40B4-BE49-F238E27FC236}">
                <a16:creationId xmlns:a16="http://schemas.microsoft.com/office/drawing/2014/main" id="{6AF7D026-7E82-C805-D3A9-33F6C48B50A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4;p14" descr="image.png">
            <a:hlinkClick r:id="rId12" action="ppaction://hlinksldjump"/>
            <a:extLst>
              <a:ext uri="{FF2B5EF4-FFF2-40B4-BE49-F238E27FC236}">
                <a16:creationId xmlns:a16="http://schemas.microsoft.com/office/drawing/2014/main" id="{FE63F9AB-E1A0-B9EE-B390-61C68F59AD44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28950"/>
            <a:ext cx="3492400" cy="2889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3028950"/>
            <a:ext cx="3492549" cy="2889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3028950"/>
            <a:ext cx="3492400" cy="288964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71500" y="571500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Интерактивная</a:t>
            </a:r>
            <a:r>
              <a:rPr lang="en-US" sz="42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инфографика</a:t>
            </a:r>
            <a:r>
              <a:rPr lang="en-US" sz="42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Умный</a:t>
            </a:r>
            <a:r>
              <a:rPr lang="en-US" sz="42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дом</a:t>
            </a:r>
            <a:endParaRPr dirty="0"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23431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Нажмите на элементы, чтобы узнать, как ИИ управляет домом (симуляция).</a:t>
            </a:r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C5C6E7-C9DD-F623-3E34-156F939B7862}"/>
              </a:ext>
            </a:extLst>
          </p:cNvPr>
          <p:cNvGrpSpPr/>
          <p:nvPr/>
        </p:nvGrpSpPr>
        <p:grpSpPr>
          <a:xfrm>
            <a:off x="794228" y="3324225"/>
            <a:ext cx="3046943" cy="1019175"/>
            <a:chOff x="794228" y="3324225"/>
            <a:chExt cx="3046943" cy="1019175"/>
          </a:xfrm>
        </p:grpSpPr>
        <p:pic>
          <p:nvPicPr>
            <p:cNvPr id="174" name="Google Shape;174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4825" y="3324225"/>
              <a:ext cx="28575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7"/>
            <p:cNvSpPr txBox="1"/>
            <p:nvPr/>
          </p:nvSpPr>
          <p:spPr>
            <a:xfrm>
              <a:off x="794228" y="3971925"/>
              <a:ext cx="3046943" cy="371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Климат</a:t>
              </a:r>
              <a:endParaRPr dirty="0"/>
            </a:p>
          </p:txBody>
        </p:sp>
      </p:grpSp>
      <p:sp>
        <p:nvSpPr>
          <p:cNvPr id="176" name="Google Shape;176;p17"/>
          <p:cNvSpPr txBox="1"/>
          <p:nvPr/>
        </p:nvSpPr>
        <p:spPr>
          <a:xfrm>
            <a:off x="866775" y="4495800"/>
            <a:ext cx="29018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Термостаты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изучают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ваши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привычки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регулируют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температуру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для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экономии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энергии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927649-D9D2-4D60-5E23-BF0E0B9E7D86}"/>
              </a:ext>
            </a:extLst>
          </p:cNvPr>
          <p:cNvGrpSpPr/>
          <p:nvPr/>
        </p:nvGrpSpPr>
        <p:grpSpPr>
          <a:xfrm>
            <a:off x="4572375" y="3324225"/>
            <a:ext cx="3047099" cy="1019175"/>
            <a:chOff x="4572375" y="3324225"/>
            <a:chExt cx="3047099" cy="1019175"/>
          </a:xfrm>
        </p:grpSpPr>
        <p:pic>
          <p:nvPicPr>
            <p:cNvPr id="177" name="Google Shape;177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38676" y="3324225"/>
              <a:ext cx="51435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7"/>
            <p:cNvSpPr txBox="1"/>
            <p:nvPr/>
          </p:nvSpPr>
          <p:spPr>
            <a:xfrm>
              <a:off x="4572375" y="3971925"/>
              <a:ext cx="3047099" cy="371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 err="1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Безопасность</a:t>
              </a:r>
              <a:endParaRPr dirty="0"/>
            </a:p>
          </p:txBody>
        </p:sp>
      </p:grpSp>
      <p:sp>
        <p:nvSpPr>
          <p:cNvPr id="179" name="Google Shape;179;p17"/>
          <p:cNvSpPr txBox="1"/>
          <p:nvPr/>
        </p:nvSpPr>
        <p:spPr>
          <a:xfrm>
            <a:off x="4644925" y="4495800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Камеры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с ИИ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отличают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людей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от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животных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присылают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уведомления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только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при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реальной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угрозе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AA0E50-1CB3-CAA4-8FBA-4FA6258491D3}"/>
              </a:ext>
            </a:extLst>
          </p:cNvPr>
          <p:cNvGrpSpPr/>
          <p:nvPr/>
        </p:nvGrpSpPr>
        <p:grpSpPr>
          <a:xfrm>
            <a:off x="8350679" y="3324225"/>
            <a:ext cx="3046943" cy="1019175"/>
            <a:chOff x="8350679" y="3324225"/>
            <a:chExt cx="3046943" cy="1019175"/>
          </a:xfrm>
        </p:grpSpPr>
        <p:pic>
          <p:nvPicPr>
            <p:cNvPr id="180" name="Google Shape;180;p17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702700" y="3324225"/>
              <a:ext cx="3429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7"/>
            <p:cNvSpPr txBox="1"/>
            <p:nvPr/>
          </p:nvSpPr>
          <p:spPr>
            <a:xfrm>
              <a:off x="8350679" y="3971925"/>
              <a:ext cx="3046943" cy="371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Освещение</a:t>
              </a:r>
              <a:endParaRPr dirty="0"/>
            </a:p>
          </p:txBody>
        </p:sp>
      </p:grpSp>
      <p:sp>
        <p:nvSpPr>
          <p:cNvPr id="182" name="Google Shape;182;p17"/>
          <p:cNvSpPr txBox="1"/>
          <p:nvPr/>
        </p:nvSpPr>
        <p:spPr>
          <a:xfrm>
            <a:off x="8423225" y="4495800"/>
            <a:ext cx="29018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Свет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включается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при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входе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в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комнату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меняет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температуру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в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зависимости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от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времени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суток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pic>
        <p:nvPicPr>
          <p:cNvPr id="2" name="Google Shape;93;p14" descr="image.png">
            <a:hlinkClick r:id="rId9" action="ppaction://hlinksldjump"/>
            <a:extLst>
              <a:ext uri="{FF2B5EF4-FFF2-40B4-BE49-F238E27FC236}">
                <a16:creationId xmlns:a16="http://schemas.microsoft.com/office/drawing/2014/main" id="{F355B9B9-65BC-EDC2-CE31-C8D1B7822E9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4" descr="image.png">
            <a:hlinkClick r:id="rId11" action="ppaction://hlinksldjump"/>
            <a:extLst>
              <a:ext uri="{FF2B5EF4-FFF2-40B4-BE49-F238E27FC236}">
                <a16:creationId xmlns:a16="http://schemas.microsoft.com/office/drawing/2014/main" id="{D3F2001F-DB01-1F80-E5AD-65156BB2A00A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7ED85C39-65EE-416A-5410-0C2AAC9136F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4" descr="image.png">
            <a:extLst>
              <a:ext uri="{FF2B5EF4-FFF2-40B4-BE49-F238E27FC236}">
                <a16:creationId xmlns:a16="http://schemas.microsoft.com/office/drawing/2014/main" id="{328E6569-EB10-1E81-7FE6-F6385D98DB14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1;p14" descr="image.png">
            <a:extLst>
              <a:ext uri="{FF2B5EF4-FFF2-40B4-BE49-F238E27FC236}">
                <a16:creationId xmlns:a16="http://schemas.microsoft.com/office/drawing/2014/main" id="{065B0E78-4315-5249-5386-295636F7F457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4;p14" descr="image.png">
            <a:hlinkClick r:id="rId16" action="ppaction://hlinksldjump"/>
            <a:extLst>
              <a:ext uri="{FF2B5EF4-FFF2-40B4-BE49-F238E27FC236}">
                <a16:creationId xmlns:a16="http://schemas.microsoft.com/office/drawing/2014/main" id="{83BBA524-7CEF-DA9C-8549-050CB6C83BD6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76" grpId="0"/>
      <p:bldP spid="179" grpId="0"/>
      <p:bldP spid="18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 l="3021" t="35926" r="92734" b="12315"/>
          <a:stretch>
            <a:fillRect/>
          </a:stretch>
        </p:blipFill>
        <p:spPr>
          <a:xfrm>
            <a:off x="368300" y="2463800"/>
            <a:ext cx="517525" cy="354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571500" y="1090612"/>
            <a:ext cx="520065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Будущее уже здесь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00100" y="2671762"/>
            <a:ext cx="496062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Беспилотный транспорт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00100" y="3233737"/>
            <a:ext cx="4724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Автономные такси и грузовики снизят количество аварий на 90%.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00100" y="4033837"/>
            <a:ext cx="496062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Персонализированная медицина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00100" y="4967287"/>
            <a:ext cx="4724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ИИ будет анализировать геном человека для создания индивидуальных лекарств.</a:t>
            </a:r>
            <a:endParaRPr/>
          </a:p>
        </p:txBody>
      </p:sp>
      <p:pic>
        <p:nvPicPr>
          <p:cNvPr id="3" name="Google Shape;93;p14" descr="image.png">
            <a:hlinkClick r:id="rId4" action="ppaction://hlinksldjump"/>
            <a:extLst>
              <a:ext uri="{FF2B5EF4-FFF2-40B4-BE49-F238E27FC236}">
                <a16:creationId xmlns:a16="http://schemas.microsoft.com/office/drawing/2014/main" id="{540CE428-73CC-4015-0ECB-C6DE8EC8A95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5;p14" descr="image.png">
            <a:hlinkClick r:id="rId6" action="ppaction://hlinksldjump"/>
            <a:extLst>
              <a:ext uri="{FF2B5EF4-FFF2-40B4-BE49-F238E27FC236}">
                <a16:creationId xmlns:a16="http://schemas.microsoft.com/office/drawing/2014/main" id="{54F9A143-2158-D886-F285-C8C5BEE5236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9;p14" descr="image.png">
            <a:extLst>
              <a:ext uri="{FF2B5EF4-FFF2-40B4-BE49-F238E27FC236}">
                <a16:creationId xmlns:a16="http://schemas.microsoft.com/office/drawing/2014/main" id="{3AC08F3D-0DAE-28DF-0F51-A8F1CCFA3DF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0;p14" descr="image.png">
            <a:extLst>
              <a:ext uri="{FF2B5EF4-FFF2-40B4-BE49-F238E27FC236}">
                <a16:creationId xmlns:a16="http://schemas.microsoft.com/office/drawing/2014/main" id="{522FDE8A-8612-A3F0-7C94-F0F3A89A762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1;p14" descr="image.png">
            <a:extLst>
              <a:ext uri="{FF2B5EF4-FFF2-40B4-BE49-F238E27FC236}">
                <a16:creationId xmlns:a16="http://schemas.microsoft.com/office/drawing/2014/main" id="{5ED3E4AC-DA9A-5E7E-2A7E-30B8C868EB8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4;p14" descr="image.png">
            <a:hlinkClick r:id="rId11" action="ppaction://hlinksldjump"/>
            <a:extLst>
              <a:ext uri="{FF2B5EF4-FFF2-40B4-BE49-F238E27FC236}">
                <a16:creationId xmlns:a16="http://schemas.microsoft.com/office/drawing/2014/main" id="{8EBEB27B-5F79-5F05-BC1F-9BEBFDCE068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qna D">
            <a:extLst>
              <a:ext uri="{FF2B5EF4-FFF2-40B4-BE49-F238E27FC236}">
                <a16:creationId xmlns:a16="http://schemas.microsoft.com/office/drawing/2014/main" id="{1A040669-9AD5-6AE3-A655-B8AFE7BE65E1}"/>
              </a:ext>
            </a:extLst>
          </p:cNvPr>
          <p:cNvSpPr/>
          <p:nvPr/>
        </p:nvSpPr>
        <p:spPr>
          <a:xfrm>
            <a:off x="6238875" y="4530884"/>
            <a:ext cx="4143375" cy="1317818"/>
          </a:xfrm>
          <a:prstGeom prst="roundRect">
            <a:avLst/>
          </a:prstGeom>
          <a:solidFill>
            <a:srgbClr val="0F172A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qna C">
            <a:extLst>
              <a:ext uri="{FF2B5EF4-FFF2-40B4-BE49-F238E27FC236}">
                <a16:creationId xmlns:a16="http://schemas.microsoft.com/office/drawing/2014/main" id="{6D8EBF9D-0ED5-D959-F3FE-99DA6CAB0E3C}"/>
              </a:ext>
            </a:extLst>
          </p:cNvPr>
          <p:cNvSpPr/>
          <p:nvPr/>
        </p:nvSpPr>
        <p:spPr>
          <a:xfrm>
            <a:off x="1809750" y="4530884"/>
            <a:ext cx="4143375" cy="1317818"/>
          </a:xfrm>
          <a:prstGeom prst="roundRect">
            <a:avLst/>
          </a:prstGeom>
          <a:solidFill>
            <a:srgbClr val="0F172A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qna B">
            <a:extLst>
              <a:ext uri="{FF2B5EF4-FFF2-40B4-BE49-F238E27FC236}">
                <a16:creationId xmlns:a16="http://schemas.microsoft.com/office/drawing/2014/main" id="{EE54A196-0D9C-F054-89B3-2D2851B0017A}"/>
              </a:ext>
            </a:extLst>
          </p:cNvPr>
          <p:cNvSpPr/>
          <p:nvPr/>
        </p:nvSpPr>
        <p:spPr>
          <a:xfrm>
            <a:off x="6238875" y="2895600"/>
            <a:ext cx="4143375" cy="1317818"/>
          </a:xfrm>
          <a:prstGeom prst="roundRect">
            <a:avLst/>
          </a:prstGeom>
          <a:solidFill>
            <a:srgbClr val="0F172A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qna A">
            <a:extLst>
              <a:ext uri="{FF2B5EF4-FFF2-40B4-BE49-F238E27FC236}">
                <a16:creationId xmlns:a16="http://schemas.microsoft.com/office/drawing/2014/main" id="{4815BF3C-2B24-339E-573F-4647B47FA1AA}"/>
              </a:ext>
            </a:extLst>
          </p:cNvPr>
          <p:cNvSpPr/>
          <p:nvPr/>
        </p:nvSpPr>
        <p:spPr>
          <a:xfrm>
            <a:off x="1809750" y="2895600"/>
            <a:ext cx="4143375" cy="1317818"/>
          </a:xfrm>
          <a:prstGeom prst="roundRect">
            <a:avLst/>
          </a:prstGeom>
          <a:solidFill>
            <a:srgbClr val="0F172A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" name="Google Shape;204;p19" descr="image.png">
            <a:hlinkClick r:id="rId3" action="ppaction://hlinksldjump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>
            <a:hlinkClick r:id="rId5" action="ppaction://hlinksldjump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4895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Викторина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2095500" y="1533525"/>
            <a:ext cx="8001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Какой из этих примеров относится к так называемому "Слабому ИИ"?</a:t>
            </a:r>
            <a:endParaRPr/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0617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2026205" y="3200400"/>
            <a:ext cx="371046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Голосовой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помощник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Siri</a:t>
            </a:r>
            <a:endParaRPr dirty="0"/>
          </a:p>
        </p:txBody>
      </p:sp>
      <p:sp>
        <p:nvSpPr>
          <p:cNvPr id="218" name="Google Shape;218;p19"/>
          <p:cNvSpPr txBox="1"/>
          <p:nvPr/>
        </p:nvSpPr>
        <p:spPr>
          <a:xfrm>
            <a:off x="2114550" y="3571875"/>
            <a:ext cx="35337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1050" b="0" i="0" u="none" strike="noStrike" cap="none" dirty="0" err="1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Правильный</a:t>
            </a:r>
            <a:r>
              <a:rPr lang="en-US" sz="1050" b="0" i="0" u="none" strike="noStrike" cap="none" dirty="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050" b="0" i="0" u="none" strike="noStrike" cap="none" dirty="0" err="1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ответ</a:t>
            </a:r>
            <a:r>
              <a:rPr lang="en-US" sz="1050" b="0" i="0" u="none" strike="noStrike" cap="none" dirty="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/>
          </a:p>
        </p:txBody>
      </p:sp>
      <p:sp>
        <p:nvSpPr>
          <p:cNvPr id="219" name="Google Shape;219;p19"/>
          <p:cNvSpPr txBox="1"/>
          <p:nvPr/>
        </p:nvSpPr>
        <p:spPr>
          <a:xfrm>
            <a:off x="6455330" y="3200400"/>
            <a:ext cx="371046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Терминатор (Skynet)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2026205" y="4813845"/>
            <a:ext cx="371046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Человеческий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мозг</a:t>
            </a:r>
            <a:endParaRPr dirty="0"/>
          </a:p>
        </p:txBody>
      </p:sp>
      <p:sp>
        <p:nvSpPr>
          <p:cNvPr id="221" name="Google Shape;221;p19"/>
          <p:cNvSpPr txBox="1"/>
          <p:nvPr/>
        </p:nvSpPr>
        <p:spPr>
          <a:xfrm>
            <a:off x="6587722" y="4813845"/>
            <a:ext cx="350877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Полностью</a:t>
            </a:r>
            <a:r>
              <a:rPr lang="en-US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разумный</a:t>
            </a:r>
            <a:r>
              <a:rPr lang="en-US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робот</a:t>
            </a:r>
            <a:endParaRPr sz="1100" dirty="0"/>
          </a:p>
        </p:txBody>
      </p:sp>
      <p:pic>
        <p:nvPicPr>
          <p:cNvPr id="222" name="Google Shape;22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90750" y="32194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43712" y="32194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514600" y="483289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81800" y="483289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0;p14" descr="image.png">
            <a:extLst>
              <a:ext uri="{FF2B5EF4-FFF2-40B4-BE49-F238E27FC236}">
                <a16:creationId xmlns:a16="http://schemas.microsoft.com/office/drawing/2014/main" id="{2C04CA33-66D6-6F3D-48CC-CA3BD5C7E7E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4;p14" descr="image.png">
            <a:hlinkClick r:id="rId14" action="ppaction://hlinksldjump"/>
            <a:extLst>
              <a:ext uri="{FF2B5EF4-FFF2-40B4-BE49-F238E27FC236}">
                <a16:creationId xmlns:a16="http://schemas.microsoft.com/office/drawing/2014/main" id="{67A4CE30-61DA-D87B-B6F2-4799335F4CD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18;p19">
            <a:extLst>
              <a:ext uri="{FF2B5EF4-FFF2-40B4-BE49-F238E27FC236}">
                <a16:creationId xmlns:a16="http://schemas.microsoft.com/office/drawing/2014/main" id="{B6804756-400B-7749-61E3-975E8426DB42}"/>
              </a:ext>
            </a:extLst>
          </p:cNvPr>
          <p:cNvSpPr txBox="1"/>
          <p:nvPr/>
        </p:nvSpPr>
        <p:spPr>
          <a:xfrm>
            <a:off x="6543673" y="3568155"/>
            <a:ext cx="353377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9904"/>
              </a:lnSpc>
            </a:pPr>
            <a:r>
              <a:rPr lang="en-US" sz="1050" b="0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az-Cyrl-AZ" sz="1050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Неправильный ответ</a:t>
            </a:r>
            <a:r>
              <a:rPr lang="en-US" sz="1050" b="0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" name="Google Shape;218;p19">
            <a:extLst>
              <a:ext uri="{FF2B5EF4-FFF2-40B4-BE49-F238E27FC236}">
                <a16:creationId xmlns:a16="http://schemas.microsoft.com/office/drawing/2014/main" id="{6D35F730-25E0-D1C6-1628-9AA71CFD7CED}"/>
              </a:ext>
            </a:extLst>
          </p:cNvPr>
          <p:cNvSpPr txBox="1"/>
          <p:nvPr/>
        </p:nvSpPr>
        <p:spPr>
          <a:xfrm>
            <a:off x="2152650" y="5195209"/>
            <a:ext cx="353377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9904"/>
              </a:lnSpc>
            </a:pPr>
            <a:r>
              <a:rPr lang="en-US" sz="1050" b="0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az-Cyrl-AZ" sz="1050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Неправильный ответ</a:t>
            </a:r>
            <a:r>
              <a:rPr lang="en-US" sz="1050" b="0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3" name="Google Shape;218;p19">
            <a:extLst>
              <a:ext uri="{FF2B5EF4-FFF2-40B4-BE49-F238E27FC236}">
                <a16:creationId xmlns:a16="http://schemas.microsoft.com/office/drawing/2014/main" id="{EC5B0124-6963-684D-2AD7-7A797D500042}"/>
              </a:ext>
            </a:extLst>
          </p:cNvPr>
          <p:cNvSpPr txBox="1"/>
          <p:nvPr/>
        </p:nvSpPr>
        <p:spPr>
          <a:xfrm>
            <a:off x="6587722" y="5120429"/>
            <a:ext cx="353377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9904"/>
              </a:lnSpc>
            </a:pPr>
            <a:r>
              <a:rPr lang="en-US" sz="1050" b="0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az-Cyrl-AZ" sz="1050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Неправильный ответ</a:t>
            </a:r>
            <a:r>
              <a:rPr lang="en-US" sz="1050" b="0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 animBg="1"/>
      <p:bldP spid="218" grpId="0"/>
      <p:bldP spid="219" grpId="0"/>
      <p:bldP spid="220" grpId="0"/>
      <p:bldP spid="221" grpId="0"/>
      <p:bldP spid="10" grpId="0"/>
      <p:bldP spid="10" grpId="1"/>
      <p:bldP spid="12" grpId="0"/>
      <p:bldP spid="12" grpId="1"/>
      <p:bldP spid="13" grpId="0"/>
      <p:bldP spid="1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2114551"/>
            <a:ext cx="7620000" cy="258912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295275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5619750" y="169545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2395537" y="2239370"/>
            <a:ext cx="74009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dirty="0"/>
          </a:p>
        </p:txBody>
      </p:sp>
      <p:sp>
        <p:nvSpPr>
          <p:cNvPr id="243" name="Google Shape;243;p20"/>
          <p:cNvSpPr txBox="1"/>
          <p:nvPr/>
        </p:nvSpPr>
        <p:spPr>
          <a:xfrm>
            <a:off x="2905125" y="2667995"/>
            <a:ext cx="6715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Author A. A. Introduction to Artificial Intelligence Systems. — City: Academic Publisher, 20XX. — 500 p.</a:t>
            </a:r>
            <a:endParaRPr dirty="0"/>
          </a:p>
        </p:txBody>
      </p:sp>
      <p:sp>
        <p:nvSpPr>
          <p:cNvPr id="244" name="Google Shape;244;p20"/>
          <p:cNvSpPr txBox="1"/>
          <p:nvPr/>
        </p:nvSpPr>
        <p:spPr>
          <a:xfrm>
            <a:off x="2905125" y="3468095"/>
            <a:ext cx="67151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Research Organization. Online Research Notes on Intelligent Technologies. — Available at: https://example.org(accessed: 20XX-MM-DD).</a:t>
            </a:r>
            <a:endParaRPr dirty="0"/>
          </a:p>
        </p:txBody>
      </p:sp>
      <p:pic>
        <p:nvPicPr>
          <p:cNvPr id="246" name="Google Shape;24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1750" y="268704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1750" y="348714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93;p14" descr="image.png">
            <a:hlinkClick r:id="rId5" action="ppaction://hlinksldjump"/>
            <a:extLst>
              <a:ext uri="{FF2B5EF4-FFF2-40B4-BE49-F238E27FC236}">
                <a16:creationId xmlns:a16="http://schemas.microsoft.com/office/drawing/2014/main" id="{9171B531-F990-7BF3-443F-DE6125EDC38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276975"/>
            <a:ext cx="971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99;p14" descr="image.png">
            <a:extLst>
              <a:ext uri="{FF2B5EF4-FFF2-40B4-BE49-F238E27FC236}">
                <a16:creationId xmlns:a16="http://schemas.microsoft.com/office/drawing/2014/main" id="{E28F6D14-A292-64A9-8569-121398345B1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6125" y="64055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00;p14" descr="image.png">
            <a:extLst>
              <a:ext uri="{FF2B5EF4-FFF2-40B4-BE49-F238E27FC236}">
                <a16:creationId xmlns:a16="http://schemas.microsoft.com/office/drawing/2014/main" id="{CFD4D688-8CEB-67D6-DDE3-FA82474C9C9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53075" y="6405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94;p14" descr="image.png">
            <a:hlinkClick r:id="rId9" action="ppaction://hlinksldjump"/>
            <a:extLst>
              <a:ext uri="{FF2B5EF4-FFF2-40B4-BE49-F238E27FC236}">
                <a16:creationId xmlns:a16="http://schemas.microsoft.com/office/drawing/2014/main" id="{EAA60351-44E4-4515-EA98-422780E4ECA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10200" y="6276975"/>
            <a:ext cx="13716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38;p17">
            <a:extLst>
              <a:ext uri="{FF2B5EF4-FFF2-40B4-BE49-F238E27FC236}">
                <a16:creationId xmlns:a16="http://schemas.microsoft.com/office/drawing/2014/main" id="{EB877982-2681-D6CF-02D4-FE2F84916264}"/>
              </a:ext>
            </a:extLst>
          </p:cNvPr>
          <p:cNvSpPr txBox="1"/>
          <p:nvPr/>
        </p:nvSpPr>
        <p:spPr>
          <a:xfrm>
            <a:off x="2612441" y="5321352"/>
            <a:ext cx="249752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sadana.student@rudn.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sym typeface="DM Sans"/>
              </a:rPr>
              <a:t>ru</a:t>
            </a:r>
            <a:endParaRPr i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Google Shape;139;p17">
            <a:extLst>
              <a:ext uri="{FF2B5EF4-FFF2-40B4-BE49-F238E27FC236}">
                <a16:creationId xmlns:a16="http://schemas.microsoft.com/office/drawing/2014/main" id="{217CCEE3-3CAC-EFD5-F263-5C8355045D18}"/>
              </a:ext>
            </a:extLst>
          </p:cNvPr>
          <p:cNvSpPr txBox="1"/>
          <p:nvPr/>
        </p:nvSpPr>
        <p:spPr>
          <a:xfrm>
            <a:off x="5304434" y="5321352"/>
            <a:ext cx="2098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+7 (999) 123-45-67</a:t>
            </a:r>
            <a:endParaRPr i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Google Shape;140;p17">
            <a:extLst>
              <a:ext uri="{FF2B5EF4-FFF2-40B4-BE49-F238E27FC236}">
                <a16:creationId xmlns:a16="http://schemas.microsoft.com/office/drawing/2014/main" id="{FA516C1B-349F-48CF-E387-98566C8622BB}"/>
              </a:ext>
            </a:extLst>
          </p:cNvPr>
          <p:cNvSpPr txBox="1"/>
          <p:nvPr/>
        </p:nvSpPr>
        <p:spPr>
          <a:xfrm>
            <a:off x="7597034" y="5321352"/>
            <a:ext cx="2098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 @sadana_student</a:t>
            </a:r>
            <a:endParaRPr i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2" name="Google Shape;141;p17" descr="image.png">
            <a:extLst>
              <a:ext uri="{FF2B5EF4-FFF2-40B4-BE49-F238E27FC236}">
                <a16:creationId xmlns:a16="http://schemas.microsoft.com/office/drawing/2014/main" id="{B0435780-0B6E-6568-E624-153B20774FED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12441" y="541183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42;p17" descr="image.png">
            <a:extLst>
              <a:ext uri="{FF2B5EF4-FFF2-40B4-BE49-F238E27FC236}">
                <a16:creationId xmlns:a16="http://schemas.microsoft.com/office/drawing/2014/main" id="{6D36C87C-1317-B382-7429-8F5C01CE1974}"/>
              </a:ext>
            </a:extLst>
          </p:cNvPr>
          <p:cNvPicPr preferRelativeResize="0"/>
          <p:nvPr/>
        </p:nvPicPr>
        <p:blipFill rotWithShape="1">
          <a:blip r:embed="rId12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304434" y="541183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43;p17" descr="image.png">
            <a:extLst>
              <a:ext uri="{FF2B5EF4-FFF2-40B4-BE49-F238E27FC236}">
                <a16:creationId xmlns:a16="http://schemas.microsoft.com/office/drawing/2014/main" id="{49EB3BD8-CB8E-AC9E-DFD9-9A8DC3BC1665}"/>
              </a:ext>
            </a:extLst>
          </p:cNvPr>
          <p:cNvPicPr preferRelativeResize="0"/>
          <p:nvPr/>
        </p:nvPicPr>
        <p:blipFill rotWithShape="1">
          <a:blip r:embed="rId1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597034" y="5411839"/>
            <a:ext cx="1809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236;p20">
            <a:extLst>
              <a:ext uri="{FF2B5EF4-FFF2-40B4-BE49-F238E27FC236}">
                <a16:creationId xmlns:a16="http://schemas.microsoft.com/office/drawing/2014/main" id="{5759D697-1DE3-EAC5-B2FA-0750F2058E2E}"/>
              </a:ext>
            </a:extLst>
          </p:cNvPr>
          <p:cNvSpPr txBox="1"/>
          <p:nvPr/>
        </p:nvSpPr>
        <p:spPr>
          <a:xfrm>
            <a:off x="2395537" y="4964461"/>
            <a:ext cx="74009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az-Cyrl-AZ" sz="1800" b="1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Контакты</a:t>
            </a:r>
            <a:r>
              <a:rPr lang="en-US" sz="1800" b="1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906</Words>
  <Application>Microsoft Office PowerPoint</Application>
  <PresentationFormat>Widescreen</PresentationFormat>
  <Paragraphs>119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DM Sans</vt:lpstr>
      <vt:lpstr>Roboto Mono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Erland Adestio Sadana</cp:lastModifiedBy>
  <cp:revision>6</cp:revision>
  <dcterms:modified xsi:type="dcterms:W3CDTF">2026-02-16T12:24:49Z</dcterms:modified>
</cp:coreProperties>
</file>