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Roboto Mono" panose="00000009000000000000" pitchFamily="49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C886C5-A80D-40CF-8E76-BDDD1BCAE313}">
  <a:tblStyle styleId="{E1C886C5-A80D-40CF-8E76-BDDD1BCAE3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6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34654"/>
            <a:ext cx="116016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800" b="1" i="1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ИИ</a:t>
            </a:r>
            <a:r>
              <a:rPr lang="en-US" sz="4800" b="1" i="1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и нейросетей для генерации изображений</a:t>
            </a:r>
            <a:endParaRPr sz="4800" b="1" i="1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0" y="1529804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4032795"/>
            <a:ext cx="11049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Садана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Э. А.</a:t>
            </a:r>
            <a:endParaRPr sz="1500" b="1" i="0" u="none" strike="noStrike" cap="none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1132255233</a:t>
            </a:r>
            <a:endParaRPr sz="1500" i="1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ЭЭУбд-07-25</a:t>
            </a:r>
            <a:endParaRPr sz="1500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76425"/>
            <a:ext cx="533400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724025"/>
            <a:ext cx="53340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4864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Ссылка на платформу: </a:t>
            </a:r>
            <a:r>
              <a:rPr lang="en-US" sz="1500" b="0" i="1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https://leonardo.ai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66775" y="2924175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Выбор сервиса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390900"/>
            <a:ext cx="4743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Для работы была выбрана платформа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Leonardo AI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Это мощный инструмент на базе Stable Diffusion, предлагающий высокое качество детализации и удобные настройки стилей.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581775" y="2771775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Преимущества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81775" y="3238500"/>
            <a:ext cx="47434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Leonardo AI позволяет генерировать изображения с фотографической точностью, использовать режим "Alchemist" для улучшения освещения и работать с текстовыми запросами любой сложности.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21932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0669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Инструмент: Leonardo AI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295275" y="2955577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Тема 1: Технологии будущего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809750" y="3536602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Интеграция ИИ в городскую инфраструктуру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26193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Технологический прогресс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308610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На данном слайде представлено видение города через 50 лет: стеклянные небоскребы, встроенная зелень и автономный транспорт.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Футуристичный город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64725" y="4269700"/>
            <a:ext cx="5334000" cy="1140000"/>
          </a:xfrm>
          <a:prstGeom prst="rect">
            <a:avLst/>
          </a:prstGeom>
          <a:solidFill>
            <a:srgbClr val="111729"/>
          </a:solidFill>
          <a:ln w="28575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274300" rIns="365750" bIns="2743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Prompt: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A high-tech futuristic city skyline at sunset, featuring sleek glass skyscrapers with integrated greenery and glowing neon circuits. Flying autonomous vehicles moving through transparent glass tubes.</a:t>
            </a:r>
            <a:endParaRPr sz="1100">
              <a:solidFill>
                <a:srgbClr val="38BD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Style: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Cinematic</a:t>
            </a:r>
            <a:endParaRPr sz="1100">
              <a:solidFill>
                <a:srgbClr val="38BDF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8600" y="1574147"/>
            <a:ext cx="4701850" cy="4701850"/>
          </a:xfrm>
          <a:prstGeom prst="rect">
            <a:avLst/>
          </a:prstGeom>
          <a:noFill/>
          <a:ln w="28575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295275" y="2955577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Тема 2: Цифровой мир обучения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1809750" y="3536602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Трансформация образования через VR и AR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762000" y="57150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в VR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71500" y="1371600"/>
            <a:ext cx="4953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Цифровое обучение позволяет студентам погружаться в виртуальные среды, изучая космос или историю изнутри.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571500" y="3733800"/>
            <a:ext cx="4953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Использование VR повышает вовлеченность и помогает лучше усваивать сложные концепции.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564725" y="2554200"/>
            <a:ext cx="5334000" cy="1140000"/>
          </a:xfrm>
          <a:prstGeom prst="rect">
            <a:avLst/>
          </a:prstGeom>
          <a:solidFill>
            <a:srgbClr val="111729"/>
          </a:solidFill>
          <a:ln w="28575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274300" rIns="365750" bIns="2743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Prompt: </a:t>
            </a:r>
            <a:r>
              <a:rPr lang="en-US" sz="1100" dirty="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A student wearing a VR headset, interacting with floating holographic 3D models of planets and stars in a modern classroom, cinematic lighting, realistic style.</a:t>
            </a:r>
            <a:endParaRPr sz="1100" dirty="0">
              <a:solidFill>
                <a:srgbClr val="38BD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Style: </a:t>
            </a:r>
            <a:r>
              <a:rPr lang="en-US" sz="1100" dirty="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Cinematic</a:t>
            </a:r>
            <a:endParaRPr sz="1100" dirty="0">
              <a:solidFill>
                <a:srgbClr val="38BDF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l="8491" r="7020"/>
          <a:stretch/>
        </p:blipFill>
        <p:spPr>
          <a:xfrm>
            <a:off x="6397475" y="0"/>
            <a:ext cx="5794524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295275" y="2955577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Тема 3: Экология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1809750" y="3536602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Технологии на страже природы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571500" y="26193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Зеленая энергия</a:t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571500" y="308610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Будущее невозможно без устойчивого развития. ИИ помогает оптимизировать работу солнечных панелей и ветряных турбин.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Экологические инициативы</a:t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564725" y="4269700"/>
            <a:ext cx="5334000" cy="1140000"/>
          </a:xfrm>
          <a:prstGeom prst="rect">
            <a:avLst/>
          </a:prstGeom>
          <a:solidFill>
            <a:srgbClr val="111729"/>
          </a:solidFill>
          <a:ln w="28575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274300" rIns="365750" bIns="2743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Prompt: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Eco-friendly future city, advanced wind turbines and solar panels integrated into a lush green forest park, bright sunny day, ultra-realistic architectural visualization.</a:t>
            </a:r>
            <a:endParaRPr sz="1100">
              <a:solidFill>
                <a:srgbClr val="38BDF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Style: </a:t>
            </a:r>
            <a:r>
              <a:rPr lang="en-US" sz="11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rPr>
              <a:t>Cinematic</a:t>
            </a:r>
            <a:endParaRPr sz="1100">
              <a:solidFill>
                <a:srgbClr val="38BDF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8600" y="1574150"/>
            <a:ext cx="4701850" cy="4701850"/>
          </a:xfrm>
          <a:prstGeom prst="rect">
            <a:avLst/>
          </a:prstGeom>
          <a:noFill/>
          <a:ln w="28575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" name="Google Shape;163;p21"/>
          <p:cNvGraphicFramePr/>
          <p:nvPr/>
        </p:nvGraphicFramePr>
        <p:xfrm>
          <a:off x="571500" y="2347912"/>
          <a:ext cx="11049000" cy="2962250"/>
        </p:xfrm>
        <a:graphic>
          <a:graphicData uri="http://schemas.openxmlformats.org/drawingml/2006/table">
            <a:tbl>
              <a:tblPr firstRow="1" bandRow="1">
                <a:noFill/>
                <a:tableStyleId>{E1C886C5-A80D-40CF-8E76-BDDD1BCAE313}</a:tableStyleId>
              </a:tblPr>
              <a:tblGrid>
                <a:gridCol w="32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Характеристика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Традиционный метод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Использование ИИ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Время создания</a:t>
                      </a:r>
                      <a:endParaRPr b="1">
                        <a:solidFill>
                          <a:srgbClr val="33415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 u="none" strike="noStrike" cap="none">
                          <a:solidFill>
                            <a:srgbClr val="8520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Часы или дни</a:t>
                      </a:r>
                      <a:endParaRPr b="1" i="1">
                        <a:solidFill>
                          <a:srgbClr val="85200C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 u="none" strike="noStrike" cap="none">
                          <a:solidFill>
                            <a:srgbClr val="3876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Минуты</a:t>
                      </a:r>
                      <a:endParaRPr b="1" i="1">
                        <a:solidFill>
                          <a:srgbClr val="38761D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Уникальность</a:t>
                      </a:r>
                      <a:endParaRPr b="1" dirty="0">
                        <a:solidFill>
                          <a:srgbClr val="33415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 u="none" strike="noStrike" cap="none" dirty="0" err="1">
                          <a:solidFill>
                            <a:srgbClr val="8520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Зависит</a:t>
                      </a:r>
                      <a:r>
                        <a:rPr lang="en-US" sz="1200" b="1" i="1" u="none" strike="noStrike" cap="none" dirty="0">
                          <a:solidFill>
                            <a:srgbClr val="8520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00" b="1" i="1" u="none" strike="noStrike" cap="none" dirty="0" err="1">
                          <a:solidFill>
                            <a:srgbClr val="8520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</a:t>
                      </a:r>
                      <a:r>
                        <a:rPr lang="en-US" sz="1200" b="1" i="1" u="none" strike="noStrike" cap="none" dirty="0">
                          <a:solidFill>
                            <a:srgbClr val="8520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00" b="1" i="1" u="none" strike="noStrike" cap="none" dirty="0" err="1">
                          <a:solidFill>
                            <a:srgbClr val="8520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дизайнера</a:t>
                      </a:r>
                      <a:endParaRPr b="1" i="1" dirty="0">
                        <a:solidFill>
                          <a:srgbClr val="85200C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 u="none" strike="noStrike" cap="none">
                          <a:solidFill>
                            <a:srgbClr val="3876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Всегда уникально</a:t>
                      </a:r>
                      <a:endParaRPr b="1" i="1">
                        <a:solidFill>
                          <a:srgbClr val="38761D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Стоимость</a:t>
                      </a:r>
                      <a:endParaRPr b="1" dirty="0">
                        <a:solidFill>
                          <a:srgbClr val="33415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 u="none" strike="noStrike" cap="none" dirty="0" err="1">
                          <a:solidFill>
                            <a:srgbClr val="8520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Высокая</a:t>
                      </a:r>
                      <a:endParaRPr b="1" i="1" dirty="0">
                        <a:solidFill>
                          <a:srgbClr val="85200C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 u="none" strike="noStrike" cap="none">
                          <a:solidFill>
                            <a:srgbClr val="3876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Минимальная</a:t>
                      </a:r>
                      <a:endParaRPr b="1" i="1">
                        <a:solidFill>
                          <a:srgbClr val="38761D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Гибкость</a:t>
                      </a:r>
                      <a:r>
                        <a:rPr lang="en-US" sz="1200" b="1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правок</a:t>
                      </a:r>
                      <a:endParaRPr b="1" dirty="0">
                        <a:solidFill>
                          <a:srgbClr val="33415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 u="none" strike="noStrike" cap="none" dirty="0" err="1">
                          <a:solidFill>
                            <a:srgbClr val="8520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Сложно</a:t>
                      </a:r>
                      <a:endParaRPr b="1" i="1" dirty="0">
                        <a:solidFill>
                          <a:srgbClr val="85200C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 u="none" strike="noStrike" cap="none" dirty="0" err="1">
                          <a:solidFill>
                            <a:srgbClr val="3876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Мгновенно</a:t>
                      </a:r>
                      <a:r>
                        <a:rPr lang="en-US" sz="1200" b="1" i="1" u="none" strike="noStrike" cap="none" dirty="0">
                          <a:solidFill>
                            <a:srgbClr val="3876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1200" b="1" i="1" u="none" strike="noStrike" cap="none" dirty="0" err="1">
                          <a:solidFill>
                            <a:srgbClr val="3876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через</a:t>
                      </a:r>
                      <a:r>
                        <a:rPr lang="en-US" sz="1200" b="1" i="1" u="none" strike="noStrike" cap="none" dirty="0">
                          <a:solidFill>
                            <a:srgbClr val="3876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200" b="1" i="1" u="none" strike="noStrike" cap="none" dirty="0" err="1">
                          <a:solidFill>
                            <a:srgbClr val="3876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промпт</a:t>
                      </a:r>
                      <a:r>
                        <a:rPr lang="en-US" sz="1200" b="1" i="1" u="none" strike="noStrike" cap="none" dirty="0">
                          <a:solidFill>
                            <a:srgbClr val="3876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b="1" i="1" dirty="0">
                        <a:solidFill>
                          <a:srgbClr val="38761D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4" name="Google Shape;164;p21"/>
          <p:cNvSpPr/>
          <p:nvPr/>
        </p:nvSpPr>
        <p:spPr>
          <a:xfrm>
            <a:off x="571500" y="2971800"/>
            <a:ext cx="322078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3792289" y="2971800"/>
            <a:ext cx="4145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7937450" y="2971800"/>
            <a:ext cx="368304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571500" y="3552825"/>
            <a:ext cx="322078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3792289" y="3552825"/>
            <a:ext cx="4145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7937450" y="3552825"/>
            <a:ext cx="368304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571500" y="4133850"/>
            <a:ext cx="322078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3792289" y="4133850"/>
            <a:ext cx="4145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7937450" y="4133850"/>
            <a:ext cx="368304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571500" y="4714875"/>
            <a:ext cx="322078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3792289" y="4714875"/>
            <a:ext cx="4145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7937450" y="4714875"/>
            <a:ext cx="368304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571500" y="5295900"/>
            <a:ext cx="322078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3792289" y="5295900"/>
            <a:ext cx="4145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7937450" y="5295900"/>
            <a:ext cx="368304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Сравнение методов дизайна</a:t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952500" y="2867025"/>
            <a:ext cx="10287000" cy="168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Нейросети — это не замена творчеству, а инструмент, который расширяет границы человеческого воображения.</a:t>
            </a:r>
            <a:endParaRPr/>
          </a:p>
        </p:txBody>
      </p:sp>
      <p:pic>
        <p:nvPicPr>
          <p:cNvPr id="187" name="Google Shape;18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212" y="1895475"/>
            <a:ext cx="40957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327</Words>
  <Application>Microsoft Office PowerPoint</Application>
  <PresentationFormat>Widescreen</PresentationFormat>
  <Paragraphs>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Inter</vt:lpstr>
      <vt:lpstr>Calibri</vt:lpstr>
      <vt:lpstr>Montserrat</vt:lpstr>
      <vt:lpstr>Inter SemiBold</vt:lpstr>
      <vt:lpstr>Inter Medium</vt:lpstr>
      <vt:lpstr>Roboto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Erland Adestio Sadana</cp:lastModifiedBy>
  <cp:revision>2</cp:revision>
  <dcterms:modified xsi:type="dcterms:W3CDTF">2026-02-21T02:14:18Z</dcterms:modified>
</cp:coreProperties>
</file>